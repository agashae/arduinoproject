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carnet reprend tout mon dépôt GitHub : mes notes à la main, mes 4 projets, mes schémas, mes photos et mon code avec mes commentaires. Le but (comme dans mon README) : comprendre l'Arduino et montrer mes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projet = un dossier sur GitHub avec le code .ino, le schéma, les photos et le lien vers le tuto.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bloc-notes a été ajouté sur GitHub le 10 mai (commit « ajouter mon bloc-notes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Numérique = tout ou rien. Analogique = une valeur entre 0 et 1023 (0 V = 0, 5 V = 1023). GND = le retour du courant, à brancher dans chaque montage.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est celui recopié de mon carnet. Les commentaires en vert sont mes propres mots. delay() compte en millisecondes : 1000 ms = 1 seconde.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Astuce pour retenir : la patte la plus longue a « plus » de métal, c'est 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pattes dans la même rangée de 5 = elles sont reliées, pas besoin de fil. C'est pour ça que la LED et la résistance se suivent dans la même rangée.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projet, ajouté le 10 mai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courant part de la broche 13, traverse la résistance puis la LED, et revient par le GND. Si un seul maillon manque, la LED reste éteinte. La broche 13 est aussi reliée à la petite LED « L » sur la carte : elle clignote en même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clignoter plus lentement : delay(1000) = 1 seconde allumée, 1 seconde éteinte.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commit « changer les img car optimisation du câblage » du 10 mai.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projet, 10 mai 2026. Nouveauté : l'Arduino LIT une information (le bouton) au lieu de seulement en envoyer.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 suivi : moussasoft.com/bouton-poussoir-arduino. Sur mes photos, le bouton passe aussi par une résistance avant le GND.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INPUT_PULLUP (juste INPUT), une broche non reliée « flotte » : elle lit n'importe quoi, 0 ou 1 au hasard. Le pull-up règle ce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Nouveau par rapport au projet 1 : digitalRead (lire), une variable int qui change, et if / else pour décider.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projet, 14 mai 2026. Tuto suivi : vidéo YouTube (lien dans lienVersTuto.txt).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besoin de breadboard ni de résistance ici : le servo a son électronique à l'intérieur.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phrases entre guillemets sont mes commentaires dans le fichier .ino. Le 2e for est « la phase retour qui tourne vers la gauche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que le servo aille plus vite : delay plus petit ou pos += 2. Attention, trop vite et il ne suit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projet, 10 août 2026 (code simplifié le 13 août).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I2C = une façon de parler avec seulement 2 fils de données (SDA et SCL). Chaque appareil a une adresse : mon écran c'est 0x3C. Sur l'Arduino UNO, SDA = A4 et SCL = A5.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dans setup() car le texte ne change jamais : il suffit de l'écrire une fois. loop() reste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zones bleues montrent à peu près où tombe le texte. Pour tout faire tenir sur une ligne : setTextSize(1) (6 × 8 pixels par lettre).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 ma fiche de révision. Tout ce que j'ai utilisé dans mes 4 projets.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points ne sont pas des reproches : c'est exactement le genre de chose qu'on apprend en débutant. Le premier (accolade) est à corriger dans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liens sont ceux des fichiers lienVersTuto.txt et LienEcran.txt de chaque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idées réutilisent uniquement ce que je sais déjà faire. Pour le joystick : analogRead(A0) donne un nombre de 0 à 1023, et map() peut le transformer en angle de 0 à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e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e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moussasoft.com/bouton-poussoir-arduino/" TargetMode="External"/><Relationship Id="rId2" Type="http://schemas.openxmlformats.org/officeDocument/2006/relationships/hyperlink" Target="https://youtu.be/v6NsAZ_srsM" TargetMode="External"/><Relationship Id="rId3" Type="http://schemas.openxmlformats.org/officeDocument/2006/relationships/hyperlink" Target="https://github.com/Agashae/ArduinoProject" TargetMode="External"/><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52D"/>
        </a:solidFill>
      </p:bgPr>
    </p:bg>
    <p:spTree>
      <p:nvGrpSpPr>
        <p:cNvPr id="1" name=""/>
        <p:cNvGrpSpPr/>
        <p:nvPr/>
      </p:nvGrpSpPr>
      <p:grpSpPr>
        <a:xfrm>
          <a:off x="0" y="0"/>
          <a:ext cx="0" cy="0"/>
          <a:chOff x="0" y="0"/>
          <a:chExt cx="0" cy="0"/>
        </a:xfrm>
      </p:grpSpPr>
      <p:pic>
        <p:nvPicPr>
          <p:cNvPr id="2" name="Image 0" descr="Ma LED verte allumée quand j'appuie sur le bouton jaune">    </p:cNvPr>
          <p:cNvPicPr>
            <a:picLocks noChangeAspect="1"/>
          </p:cNvPicPr>
          <p:nvPr/>
        </p:nvPicPr>
        <p:blipFill>
          <a:blip r:embed="rId1"/>
          <a:stretch>
            <a:fillRect/>
          </a:stretch>
        </p:blipFill>
        <p:spPr>
          <a:xfrm>
            <a:off x="7620000" y="0"/>
            <a:ext cx="4572000" cy="6858000"/>
          </a:xfrm>
          <a:prstGeom prst="rect">
            <a:avLst/>
          </a:prstGeom>
        </p:spPr>
      </p:pic>
      <p:sp>
        <p:nvSpPr>
          <p:cNvPr id="3" name="Text 0"/>
          <p:cNvSpPr txBox="1"/>
          <p:nvPr/>
        </p:nvSpPr>
        <p:spPr>
          <a:xfrm>
            <a:off x="812800" y="1778000"/>
            <a:ext cx="63500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CARNET DE BORD · MAI – AOÛT 2026</a:t>
            </a:r>
            <a:endParaRPr lang="en-US" sz="1200" dirty="0"/>
          </a:p>
        </p:txBody>
      </p:sp>
      <p:sp>
        <p:nvSpPr>
          <p:cNvPr id="4" name="Text 1"/>
          <p:cNvSpPr txBox="1"/>
          <p:nvPr/>
        </p:nvSpPr>
        <p:spPr>
          <a:xfrm>
            <a:off x="812800" y="2159000"/>
            <a:ext cx="6350000" cy="1714500"/>
          </a:xfrm>
          <a:prstGeom prst="rect">
            <a:avLst/>
          </a:prstGeom>
          <a:noFill/>
          <a:ln/>
        </p:spPr>
        <p:txBody>
          <a:bodyPr wrap="square" lIns="0" tIns="0" rIns="0" bIns="0" rtlCol="0" anchor="t"/>
          <a:lstStyle/>
          <a:p>
            <a:pPr algn="l" indent="0" marL="0">
              <a:lnSpc>
                <a:spcPct val="95000"/>
              </a:lnSpc>
              <a:buNone/>
            </a:pPr>
            <a:r>
              <a:rPr lang="en-US" sz="6000" b="1" dirty="0">
                <a:solidFill>
                  <a:srgbClr val="F5F1E8"/>
                </a:solidFill>
                <a:latin typeface="Calibri" pitchFamily="34" charset="0"/>
                <a:ea typeface="Calibri" pitchFamily="34" charset="-122"/>
                <a:cs typeface="Calibri" pitchFamily="34" charset="-120"/>
              </a:rPr>
              <a:t>Mon carnet Arduino</a:t>
            </a:r>
            <a:endParaRPr lang="en-US" sz="6000" dirty="0"/>
          </a:p>
        </p:txBody>
      </p:sp>
      <p:sp>
        <p:nvSpPr>
          <p:cNvPr id="5" name="Text 2"/>
          <p:cNvSpPr txBox="1"/>
          <p:nvPr/>
        </p:nvSpPr>
        <p:spPr>
          <a:xfrm>
            <a:off x="812800" y="4064000"/>
            <a:ext cx="6350000" cy="508000"/>
          </a:xfrm>
          <a:prstGeom prst="rect">
            <a:avLst/>
          </a:prstGeom>
          <a:noFill/>
          <a:ln/>
        </p:spPr>
        <p:txBody>
          <a:bodyPr wrap="square" lIns="0" tIns="0" rIns="0" bIns="0" rtlCol="0" anchor="t"/>
          <a:lstStyle/>
          <a:p>
            <a:pPr algn="l" indent="0" marL="0">
              <a:lnSpc>
                <a:spcPct val="105000"/>
              </a:lnSpc>
              <a:buNone/>
            </a:pPr>
            <a:r>
              <a:rPr lang="en-US" sz="2460" i="1" dirty="0">
                <a:solidFill>
                  <a:srgbClr val="F2A765"/>
                </a:solidFill>
                <a:latin typeface="Calibri" pitchFamily="34" charset="0"/>
                <a:ea typeface="Calibri" pitchFamily="34" charset="-122"/>
                <a:cs typeface="Calibri" pitchFamily="34" charset="-120"/>
              </a:rPr>
              <a:t>tout ce que je fais, expliqué comme je le dis</a:t>
            </a:r>
            <a:endParaRPr lang="en-US" sz="2460" dirty="0"/>
          </a:p>
        </p:txBody>
      </p:sp>
      <p:sp>
        <p:nvSpPr>
          <p:cNvPr id="6" name="Text 3"/>
          <p:cNvSpPr txBox="1"/>
          <p:nvPr/>
        </p:nvSpPr>
        <p:spPr>
          <a:xfrm>
            <a:off x="812800" y="5016500"/>
            <a:ext cx="6350000" cy="635000"/>
          </a:xfrm>
          <a:prstGeom prst="rect">
            <a:avLst/>
          </a:prstGeom>
          <a:noFill/>
          <a:ln/>
        </p:spPr>
        <p:txBody>
          <a:bodyPr wrap="square" lIns="0" tIns="0" rIns="0" bIns="0" rtlCol="0" anchor="t"/>
          <a:lstStyle/>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Agashae · 4 projets · 1 carte Arduino UNO</a:t>
            </a:r>
            <a:endParaRPr lang="en-US" sz="1600" dirty="0"/>
          </a:p>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Tiré de mon GitHub : Agashae/ArduinoProject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LE PLAN</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Ce que j'ai appris, dans l'ordre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854200"/>
          <a:ext cx="10566400" cy="914400"/>
        </p:xfrm>
        <a:graphic>
          <a:graphicData uri="http://schemas.openxmlformats.org/drawingml/2006/table">
            <a:tbl>
              <a:tblPr/>
              <a:tblGrid>
                <a:gridCol w="633984"/>
                <a:gridCol w="3169920"/>
                <a:gridCol w="5494528"/>
                <a:gridCol w="1267968"/>
              </a:tblGrid>
              <a:tr h="0">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Partie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Ce que ça fait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Date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0</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Les bases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Broches, GND, setup/loop, LED, breadboard (mon bloc-notes)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10 mai</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MyFirstLed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Faire clignoter une LED sur la broche 13</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10 mai</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MyFirstLedWithButton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Allumer la LED quand j'appuie sur un bouton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10 mai</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3</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MyFirstServomotor</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Faire tourner un servomoteur de 0° à 180° et retour</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14 mai</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4</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MyFirstMonitor</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Écrire « Bonjour ! Agashae » sur un petit écran OLED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10 août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bl>
          </a:graphicData>
        </a:graphic>
      </p:graphicFrame>
      <p:sp>
        <p:nvSpPr>
          <p:cNvPr id="6" name="Text 3"/>
          <p:cNvSpPr txBox="1"/>
          <p:nvPr/>
        </p:nvSpPr>
        <p:spPr>
          <a:xfrm>
            <a:off x="812800" y="4953000"/>
            <a:ext cx="10566400" cy="381000"/>
          </a:xfrm>
          <a:prstGeom prst="rect">
            <a:avLst/>
          </a:prstGeom>
          <a:noFill/>
          <a:ln/>
        </p:spPr>
        <p:txBody>
          <a:bodyPr wrap="square" lIns="0" tIns="0" rIns="0" bIns="0" rtlCol="0" anchor="t"/>
          <a:lstStyle/>
          <a:p>
            <a:pPr algn="l" indent="0" marL="0">
              <a:lnSpc>
                <a:spcPct val="105000"/>
              </a:lnSpc>
              <a:buNone/>
            </a:pPr>
            <a:r>
              <a:rPr lang="en-US" sz="1804" i="1" dirty="0">
                <a:solidFill>
                  <a:srgbClr val="9A4712"/>
                </a:solidFill>
                <a:latin typeface="Calibri" pitchFamily="34" charset="0"/>
                <a:ea typeface="Calibri" pitchFamily="34" charset="-122"/>
                <a:cs typeface="Calibri" pitchFamily="34" charset="-120"/>
              </a:rPr>
              <a:t>Chaque projet ajoute UNE nouvelle idée au précédent.</a:t>
            </a:r>
            <a:endParaRPr lang="en-US" sz="18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3</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PARTIE 0 · LES BASES</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Tout a commencé dans mon bloc-notes</a:t>
            </a:r>
            <a:endParaRPr lang="en-US" sz="3200" dirty="0"/>
          </a:p>
        </p:txBody>
      </p:sp>
      <p:pic>
        <p:nvPicPr>
          <p:cNvPr id="5" name="Image 0" descr="Page de mon carnet : Arduino, broches, GND, premier code">    </p:cNvPr>
          <p:cNvPicPr>
            <a:picLocks noChangeAspect="1"/>
          </p:cNvPicPr>
          <p:nvPr/>
        </p:nvPicPr>
        <p:blipFill>
          <a:blip r:embed="rId1"/>
          <a:stretch>
            <a:fillRect/>
          </a:stretch>
        </p:blipFill>
        <p:spPr>
          <a:xfrm>
            <a:off x="812800" y="1854200"/>
            <a:ext cx="2286000" cy="3429000"/>
          </a:xfrm>
          <a:prstGeom prst="rect">
            <a:avLst/>
          </a:prstGeom>
        </p:spPr>
      </p:pic>
      <p:sp>
        <p:nvSpPr>
          <p:cNvPr id="6" name="Text 3"/>
          <p:cNvSpPr txBox="1"/>
          <p:nvPr/>
        </p:nvSpPr>
        <p:spPr>
          <a:xfrm>
            <a:off x="812800" y="5359400"/>
            <a:ext cx="2286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Page « Arduino »</a:t>
            </a:r>
            <a:endParaRPr lang="en-US" sz="1200" dirty="0"/>
          </a:p>
        </p:txBody>
      </p:sp>
      <p:pic>
        <p:nvPicPr>
          <p:cNvPr id="7" name="Image 1" descr="Page de mon carnet : dessin de la breadboard et plusieurs LED">    </p:cNvPr>
          <p:cNvPicPr>
            <a:picLocks noChangeAspect="1"/>
          </p:cNvPicPr>
          <p:nvPr/>
        </p:nvPicPr>
        <p:blipFill>
          <a:blip r:embed="rId2"/>
          <a:stretch>
            <a:fillRect/>
          </a:stretch>
        </p:blipFill>
        <p:spPr>
          <a:xfrm>
            <a:off x="3352800" y="1854200"/>
            <a:ext cx="2286000" cy="3429000"/>
          </a:xfrm>
          <a:prstGeom prst="rect">
            <a:avLst/>
          </a:prstGeom>
        </p:spPr>
      </p:pic>
      <p:sp>
        <p:nvSpPr>
          <p:cNvPr id="8" name="Text 4"/>
          <p:cNvSpPr txBox="1"/>
          <p:nvPr/>
        </p:nvSpPr>
        <p:spPr>
          <a:xfrm>
            <a:off x="3352800" y="5359400"/>
            <a:ext cx="2286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Page « Breadboard »</a:t>
            </a:r>
            <a:endParaRPr lang="en-US" sz="1200" dirty="0"/>
          </a:p>
        </p:txBody>
      </p:sp>
      <p:sp>
        <p:nvSpPr>
          <p:cNvPr id="9" name="Text 5"/>
          <p:cNvSpPr txBox="1"/>
          <p:nvPr/>
        </p:nvSpPr>
        <p:spPr>
          <a:xfrm>
            <a:off x="5892800" y="1854200"/>
            <a:ext cx="5486400" cy="1206500"/>
          </a:xfrm>
          <a:prstGeom prst="rect">
            <a:avLst/>
          </a:prstGeom>
          <a:noFill/>
          <a:ln/>
        </p:spPr>
        <p:txBody>
          <a:bodyPr wrap="square" lIns="0" tIns="0" rIns="0" bIns="0" rtlCol="0" anchor="t"/>
          <a:lstStyle/>
          <a:p>
            <a:pPr algn="l" indent="0" marL="0">
              <a:lnSpc>
                <a:spcPct val="125000"/>
              </a:lnSpc>
              <a:buNone/>
            </a:pPr>
            <a:r>
              <a:rPr lang="en-US" sz="1500" dirty="0">
                <a:solidFill>
                  <a:srgbClr val="3E4A52"/>
                </a:solidFill>
                <a:latin typeface="Calibri" pitchFamily="34" charset="0"/>
                <a:ea typeface="Calibri" pitchFamily="34" charset="-122"/>
                <a:cs typeface="Calibri" pitchFamily="34" charset="-120"/>
              </a:rPr>
              <a:t>Avant de coder, j'ai tout noté à la main : ce que sont les broches, le GND, la structure d'un programme, comment se branche une LED et comment marche une breadboard.</a:t>
            </a:r>
            <a:endParaRPr lang="en-US" sz="1500" dirty="0"/>
          </a:p>
        </p:txBody>
      </p:sp>
      <p:sp>
        <p:nvSpPr>
          <p:cNvPr id="10" name="Text 6"/>
          <p:cNvSpPr txBox="1"/>
          <p:nvPr/>
        </p:nvSpPr>
        <p:spPr>
          <a:xfrm>
            <a:off x="5892800" y="3175000"/>
            <a:ext cx="5486400" cy="952500"/>
          </a:xfrm>
          <a:prstGeom prst="rect">
            <a:avLst/>
          </a:prstGeom>
          <a:noFill/>
          <a:ln/>
        </p:spPr>
        <p:txBody>
          <a:bodyPr wrap="square" lIns="0" tIns="0" rIns="0" bIns="0" rtlCol="0" anchor="t"/>
          <a:lstStyle/>
          <a:p>
            <a:pPr algn="l" indent="0" marL="0">
              <a:lnSpc>
                <a:spcPct val="125000"/>
              </a:lnSpc>
              <a:buNone/>
            </a:pPr>
            <a:r>
              <a:rPr lang="en-US" sz="1500" dirty="0">
                <a:solidFill>
                  <a:srgbClr val="3E4A52"/>
                </a:solidFill>
                <a:latin typeface="Calibri" pitchFamily="34" charset="0"/>
                <a:ea typeface="Calibri" pitchFamily="34" charset="-122"/>
                <a:cs typeface="Calibri" pitchFamily="34" charset="-120"/>
              </a:rPr>
              <a:t>Les slides suivantes reprennent ces notes, mot pour mot quand c'est possible (en </a:t>
            </a:r>
            <a:pPr algn="l" indent="0" marL="0">
              <a:lnSpc>
                <a:spcPct val="125000"/>
              </a:lnSpc>
              <a:buNone/>
            </a:pPr>
            <a:r>
              <a:rPr lang="en-US" sz="1500" i="1" dirty="0">
                <a:solidFill>
                  <a:srgbClr val="9A4712"/>
                </a:solidFill>
                <a:latin typeface="Calibri" pitchFamily="34" charset="0"/>
                <a:ea typeface="Calibri" pitchFamily="34" charset="-122"/>
                <a:cs typeface="Calibri" pitchFamily="34" charset="-120"/>
              </a:rPr>
              <a:t>écriture manuscrite</a:t>
            </a:r>
            <a:pPr algn="l" indent="0" marL="0">
              <a:lnSpc>
                <a:spcPct val="125000"/>
              </a:lnSpc>
              <a:buNone/>
            </a:pPr>
            <a:r>
              <a:rPr lang="en-US" sz="1500" dirty="0">
                <a:solidFill>
                  <a:srgbClr val="3E4A52"/>
                </a:solidFill>
                <a:latin typeface="Calibri" pitchFamily="34" charset="0"/>
                <a:ea typeface="Calibri" pitchFamily="34" charset="-122"/>
                <a:cs typeface="Calibri" pitchFamily="34" charset="-120"/>
              </a:rPr>
              <a:t>), avec une petite explication en plus.</a:t>
            </a:r>
            <a:endParaRPr lang="en-US" sz="1500" dirty="0"/>
          </a:p>
        </p:txBody>
      </p:sp>
      <p:sp>
        <p:nvSpPr>
          <p:cNvPr id="11" name="Text 7"/>
          <p:cNvSpPr txBox="1"/>
          <p:nvPr/>
        </p:nvSpPr>
        <p:spPr>
          <a:xfrm>
            <a:off x="5892800" y="4445000"/>
            <a:ext cx="5486400" cy="444500"/>
          </a:xfrm>
          <a:prstGeom prst="rect">
            <a:avLst/>
          </a:prstGeom>
          <a:noFill/>
          <a:ln/>
        </p:spPr>
        <p:txBody>
          <a:bodyPr wrap="square" lIns="0" tIns="0" rIns="0" bIns="0" rtlCol="0" anchor="t"/>
          <a:lstStyle/>
          <a:p>
            <a:pPr algn="l" indent="0" marL="0">
              <a:lnSpc>
                <a:spcPct val="105000"/>
              </a:lnSpc>
              <a:buNone/>
            </a:pPr>
            <a:r>
              <a:rPr lang="en-US" sz="2132" i="1" dirty="0">
                <a:solidFill>
                  <a:srgbClr val="9A4712"/>
                </a:solidFill>
                <a:latin typeface="Calibri" pitchFamily="34" charset="0"/>
                <a:ea typeface="Calibri" pitchFamily="34" charset="-122"/>
                <a:cs typeface="Calibri" pitchFamily="34" charset="-120"/>
              </a:rPr>
              <a:t>« voir GitHub pour la suite :) »</a:t>
            </a:r>
            <a:endParaRPr lang="en-US" sz="213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4</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PARTIE 0 · LES BASES</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Les 3 sortes de broches à connaître</a:t>
            </a:r>
            <a:endParaRPr lang="en-US" sz="3200" dirty="0"/>
          </a:p>
        </p:txBody>
      </p:sp>
      <p:sp>
        <p:nvSpPr>
          <p:cNvPr id="5" name="Shape 3"/>
          <p:cNvSpPr/>
          <p:nvPr/>
        </p:nvSpPr>
        <p:spPr>
          <a:xfrm>
            <a:off x="812800" y="1854200"/>
            <a:ext cx="3386667" cy="3683000"/>
          </a:xfrm>
          <a:prstGeom prst="roundRect">
            <a:avLst>
              <a:gd name="adj" fmla="val 3750"/>
            </a:avLst>
          </a:prstGeom>
          <a:solidFill>
            <a:srgbClr val="FFFDF8"/>
          </a:solidFill>
          <a:ln w="9525">
            <a:solidFill>
              <a:srgbClr val="DDD5C4"/>
            </a:solidFill>
            <a:prstDash val="solid"/>
          </a:ln>
        </p:spPr>
      </p:sp>
      <p:sp>
        <p:nvSpPr>
          <p:cNvPr id="6" name="Text 4"/>
          <p:cNvSpPr txBox="1"/>
          <p:nvPr/>
        </p:nvSpPr>
        <p:spPr>
          <a:xfrm>
            <a:off x="1041400" y="20574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Numérique (digital)</a:t>
            </a:r>
            <a:endParaRPr lang="en-US" sz="1600" dirty="0"/>
          </a:p>
        </p:txBody>
      </p:sp>
      <p:sp>
        <p:nvSpPr>
          <p:cNvPr id="7" name="Text 5"/>
          <p:cNvSpPr txBox="1"/>
          <p:nvPr/>
        </p:nvSpPr>
        <p:spPr>
          <a:xfrm>
            <a:off x="1041400" y="2413000"/>
            <a:ext cx="2929467" cy="571500"/>
          </a:xfrm>
          <a:prstGeom prst="rect">
            <a:avLst/>
          </a:prstGeom>
          <a:noFill/>
          <a:ln/>
        </p:spPr>
        <p:txBody>
          <a:bodyPr wrap="square" lIns="0" tIns="0" rIns="0" bIns="0" rtlCol="0" anchor="t"/>
          <a:lstStyle/>
          <a:p>
            <a:pPr algn="l" indent="0" marL="0">
              <a:lnSpc>
                <a:spcPct val="105000"/>
              </a:lnSpc>
              <a:buNone/>
            </a:pPr>
            <a:r>
              <a:rPr lang="en-US" sz="1476" i="1" dirty="0">
                <a:solidFill>
                  <a:srgbClr val="9A4712"/>
                </a:solidFill>
                <a:latin typeface="Calibri" pitchFamily="34" charset="0"/>
                <a:ea typeface="Calibri" pitchFamily="34" charset="-122"/>
                <a:cs typeface="Calibri" pitchFamily="34" charset="-120"/>
              </a:rPr>
              <a:t>« Sortie courant = branche numérique / digital : 0 1 »</a:t>
            </a:r>
            <a:endParaRPr lang="en-US" sz="1476" dirty="0"/>
          </a:p>
        </p:txBody>
      </p:sp>
      <p:sp>
        <p:nvSpPr>
          <p:cNvPr id="8" name="Text 6"/>
          <p:cNvSpPr txBox="1"/>
          <p:nvPr/>
        </p:nvSpPr>
        <p:spPr>
          <a:xfrm>
            <a:off x="1041400" y="3048000"/>
            <a:ext cx="2929467" cy="2286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Seulement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2 états</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0</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LOW = 0 V (éteint) ou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1</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HIGH = 5 V (allumé).</a:t>
            </a:r>
            <a:endParaRPr lang="en-US" sz="1300" dirty="0"/>
          </a:p>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Broches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0 à 13</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t>
            </a:r>
            <a:endParaRPr lang="en-US" sz="1300" dirty="0"/>
          </a:p>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Chez moi : LED sur 13, bouton sur 2, servo sur 8.</a:t>
            </a:r>
            <a:endParaRPr lang="en-US" sz="1300" dirty="0"/>
          </a:p>
        </p:txBody>
      </p:sp>
      <p:sp>
        <p:nvSpPr>
          <p:cNvPr id="9" name="Shape 7"/>
          <p:cNvSpPr/>
          <p:nvPr/>
        </p:nvSpPr>
        <p:spPr>
          <a:xfrm>
            <a:off x="4402667" y="1854200"/>
            <a:ext cx="3386667" cy="3683000"/>
          </a:xfrm>
          <a:prstGeom prst="roundRect">
            <a:avLst>
              <a:gd name="adj" fmla="val 3750"/>
            </a:avLst>
          </a:prstGeom>
          <a:solidFill>
            <a:srgbClr val="FFFDF8"/>
          </a:solidFill>
          <a:ln w="9525">
            <a:solidFill>
              <a:srgbClr val="DDD5C4"/>
            </a:solidFill>
            <a:prstDash val="solid"/>
          </a:ln>
        </p:spPr>
      </p:sp>
      <p:sp>
        <p:nvSpPr>
          <p:cNvPr id="10" name="Text 8"/>
          <p:cNvSpPr txBox="1"/>
          <p:nvPr/>
        </p:nvSpPr>
        <p:spPr>
          <a:xfrm>
            <a:off x="4631267" y="20574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Analogique</a:t>
            </a:r>
            <a:endParaRPr lang="en-US" sz="1600" dirty="0"/>
          </a:p>
        </p:txBody>
      </p:sp>
      <p:sp>
        <p:nvSpPr>
          <p:cNvPr id="11" name="Text 9"/>
          <p:cNvSpPr txBox="1"/>
          <p:nvPr/>
        </p:nvSpPr>
        <p:spPr>
          <a:xfrm>
            <a:off x="4631267" y="2413000"/>
            <a:ext cx="2929467" cy="793750"/>
          </a:xfrm>
          <a:prstGeom prst="rect">
            <a:avLst/>
          </a:prstGeom>
          <a:noFill/>
          <a:ln/>
        </p:spPr>
        <p:txBody>
          <a:bodyPr wrap="square" lIns="0" tIns="0" rIns="0" bIns="0" rtlCol="0" anchor="t"/>
          <a:lstStyle/>
          <a:p>
            <a:pPr algn="l" indent="0" marL="0">
              <a:lnSpc>
                <a:spcPct val="105000"/>
              </a:lnSpc>
              <a:buNone/>
            </a:pPr>
            <a:r>
              <a:rPr lang="en-US" sz="1476" i="1" dirty="0">
                <a:solidFill>
                  <a:srgbClr val="9A4712"/>
                </a:solidFill>
                <a:latin typeface="Calibri" pitchFamily="34" charset="0"/>
                <a:ea typeface="Calibri" pitchFamily="34" charset="-122"/>
                <a:cs typeface="Calibri" pitchFamily="34" charset="-120"/>
              </a:rPr>
              <a:t>« Branche analogique = entrée de courant, tension entre 0 et 5 V »</a:t>
            </a:r>
            <a:endParaRPr lang="en-US" sz="1476" dirty="0"/>
          </a:p>
        </p:txBody>
      </p:sp>
      <p:sp>
        <p:nvSpPr>
          <p:cNvPr id="12" name="Text 10"/>
          <p:cNvSpPr txBox="1"/>
          <p:nvPr/>
        </p:nvSpPr>
        <p:spPr>
          <a:xfrm>
            <a:off x="4631267" y="3270250"/>
            <a:ext cx="2929467" cy="206375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L'Arduino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lit</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une tension et la transforme en nombre de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0 à 1023</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t>
            </a:r>
            <a:endParaRPr lang="en-US" sz="1300" dirty="0"/>
          </a:p>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Broches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A0 à A5</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t>
            </a:r>
            <a:endParaRPr lang="en-US" sz="1300" dirty="0"/>
          </a:p>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Exemple : un joystick. (A4 et A5 me servent aussi pour l'écran.)</a:t>
            </a:r>
            <a:endParaRPr lang="en-US" sz="1300" dirty="0"/>
          </a:p>
        </p:txBody>
      </p:sp>
      <p:sp>
        <p:nvSpPr>
          <p:cNvPr id="13" name="Shape 11"/>
          <p:cNvSpPr/>
          <p:nvPr/>
        </p:nvSpPr>
        <p:spPr>
          <a:xfrm>
            <a:off x="7992533" y="1854200"/>
            <a:ext cx="3386667" cy="3683000"/>
          </a:xfrm>
          <a:prstGeom prst="roundRect">
            <a:avLst>
              <a:gd name="adj" fmla="val 3750"/>
            </a:avLst>
          </a:prstGeom>
          <a:solidFill>
            <a:srgbClr val="FFFDF8"/>
          </a:solidFill>
          <a:ln w="9525">
            <a:solidFill>
              <a:srgbClr val="DDD5C4"/>
            </a:solidFill>
            <a:prstDash val="solid"/>
          </a:ln>
        </p:spPr>
      </p:sp>
      <p:sp>
        <p:nvSpPr>
          <p:cNvPr id="14" name="Text 12"/>
          <p:cNvSpPr txBox="1"/>
          <p:nvPr/>
        </p:nvSpPr>
        <p:spPr>
          <a:xfrm>
            <a:off x="8221133" y="20574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GND</a:t>
            </a:r>
            <a:endParaRPr lang="en-US" sz="1600" dirty="0"/>
          </a:p>
        </p:txBody>
      </p:sp>
      <p:sp>
        <p:nvSpPr>
          <p:cNvPr id="15" name="Text 13"/>
          <p:cNvSpPr txBox="1"/>
          <p:nvPr/>
        </p:nvSpPr>
        <p:spPr>
          <a:xfrm>
            <a:off x="8221133" y="2413000"/>
            <a:ext cx="2929467" cy="571500"/>
          </a:xfrm>
          <a:prstGeom prst="rect">
            <a:avLst/>
          </a:prstGeom>
          <a:noFill/>
          <a:ln/>
        </p:spPr>
        <p:txBody>
          <a:bodyPr wrap="square" lIns="0" tIns="0" rIns="0" bIns="0" rtlCol="0" anchor="t"/>
          <a:lstStyle/>
          <a:p>
            <a:pPr algn="l" indent="0" marL="0">
              <a:lnSpc>
                <a:spcPct val="105000"/>
              </a:lnSpc>
              <a:buNone/>
            </a:pPr>
            <a:r>
              <a:rPr lang="en-US" sz="1476" i="1" dirty="0">
                <a:solidFill>
                  <a:srgbClr val="9A4712"/>
                </a:solidFill>
                <a:latin typeface="Calibri" pitchFamily="34" charset="0"/>
                <a:ea typeface="Calibri" pitchFamily="34" charset="-122"/>
                <a:cs typeface="Calibri" pitchFamily="34" charset="-120"/>
              </a:rPr>
              <a:t>« GND = Ground = 0 V »</a:t>
            </a:r>
            <a:endParaRPr lang="en-US" sz="1476" dirty="0"/>
          </a:p>
        </p:txBody>
      </p:sp>
      <p:sp>
        <p:nvSpPr>
          <p:cNvPr id="16" name="Text 14"/>
          <p:cNvSpPr txBox="1"/>
          <p:nvPr/>
        </p:nvSpPr>
        <p:spPr>
          <a:xfrm>
            <a:off x="8221133" y="3048000"/>
            <a:ext cx="2929467" cy="2286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La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masse</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le « − ». Le courant doit toujours pouvoir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revenir au GND</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sinon le circuit n'est pas fermé et rien ne marche.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5</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PARTIE 0 · LES BASES</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Un programme = setup() + loop()</a:t>
            </a:r>
            <a:endParaRPr lang="en-US" sz="3200" dirty="0"/>
          </a:p>
        </p:txBody>
      </p:sp>
      <p:sp>
        <p:nvSpPr>
          <p:cNvPr id="5" name="Text 3"/>
          <p:cNvSpPr txBox="1"/>
          <p:nvPr/>
        </p:nvSpPr>
        <p:spPr>
          <a:xfrm>
            <a:off x="812800" y="1854200"/>
            <a:ext cx="10566400" cy="381000"/>
          </a:xfrm>
          <a:prstGeom prst="rect">
            <a:avLst/>
          </a:prstGeom>
          <a:noFill/>
          <a:ln/>
        </p:spPr>
        <p:txBody>
          <a:bodyPr wrap="square" lIns="0" tIns="0" rIns="0" bIns="0" rtlCol="0" anchor="t"/>
          <a:lstStyle/>
          <a:p>
            <a:pPr algn="l" indent="0" marL="0">
              <a:lnSpc>
                <a:spcPct val="105000"/>
              </a:lnSpc>
              <a:buNone/>
            </a:pPr>
            <a:r>
              <a:rPr lang="en-US" sz="2132" i="1" dirty="0">
                <a:solidFill>
                  <a:srgbClr val="9A4712"/>
                </a:solidFill>
                <a:latin typeface="Calibri" pitchFamily="34" charset="0"/>
                <a:ea typeface="Calibri" pitchFamily="34" charset="-122"/>
                <a:cs typeface="Calibri" pitchFamily="34" charset="-120"/>
              </a:rPr>
              <a:t>« Arduino doit faire tout ce qu'on dit. »</a:t>
            </a:r>
            <a:endParaRPr lang="en-US" sz="2132" dirty="0"/>
          </a:p>
        </p:txBody>
      </p:sp>
      <p:sp>
        <p:nvSpPr>
          <p:cNvPr id="6" name="Shape 4"/>
          <p:cNvSpPr/>
          <p:nvPr/>
        </p:nvSpPr>
        <p:spPr>
          <a:xfrm>
            <a:off x="812800" y="2489200"/>
            <a:ext cx="6477000" cy="2686050"/>
          </a:xfrm>
          <a:prstGeom prst="roundRect">
            <a:avLst>
              <a:gd name="adj" fmla="val 4728"/>
            </a:avLst>
          </a:prstGeom>
          <a:solidFill>
            <a:srgbClr val="1C2E37"/>
          </a:solidFill>
          <a:ln/>
        </p:spPr>
      </p:sp>
      <p:sp>
        <p:nvSpPr>
          <p:cNvPr id="7" name="Text 5"/>
          <p:cNvSpPr txBox="1"/>
          <p:nvPr/>
        </p:nvSpPr>
        <p:spPr>
          <a:xfrm>
            <a:off x="1066800" y="2717800"/>
            <a:ext cx="5969000" cy="2228850"/>
          </a:xfrm>
          <a:prstGeom prst="rect">
            <a:avLst/>
          </a:prstGeom>
          <a:noFill/>
          <a:ln/>
        </p:spPr>
        <p:txBody>
          <a:bodyPr wrap="square" lIns="0" tIns="0" rIns="0" bIns="0" rtlCol="0" anchor="t"/>
          <a:lstStyle/>
          <a:p>
            <a:pPr indent="0" marL="0">
              <a:lnSpc>
                <a:spcPct val="130000"/>
              </a:lnSpc>
              <a:buNone/>
            </a:pPr>
            <a:r>
              <a:rPr lang="en-US" sz="1300" dirty="0">
                <a:solidFill>
                  <a:srgbClr val="F2A765"/>
                </a:solidFill>
                <a:latin typeface="Courier New" pitchFamily="34" charset="0"/>
                <a:ea typeface="Courier New" pitchFamily="34" charset="-122"/>
                <a:cs typeface="Courier New" pitchFamily="34" charset="-120"/>
              </a:rPr>
              <a:t>#define</a:t>
            </a:r>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led 5</a:t>
            </a:r>
            <a:pPr indent="0" marL="0">
              <a:lnSpc>
                <a:spcPct val="130000"/>
              </a:lnSpc>
              <a:buNone/>
            </a:pPr>
            <a:r>
              <a:rPr lang="en-US" sz="1300" dirty="0">
                <a:solidFill>
                  <a:srgbClr val="86C9C4"/>
                </a:solidFill>
                <a:latin typeface="Courier New" pitchFamily="34" charset="0"/>
                <a:ea typeface="Courier New" pitchFamily="34" charset="-122"/>
                <a:cs typeface="Courier New" pitchFamily="34" charset="-120"/>
              </a:rPr>
              <a:t>  // créer la variable</a:t>
            </a:r>
            <a:endParaRPr lang="en-US" sz="1300" dirty="0"/>
          </a:p>
          <a:p>
            <a:pPr indent="0" marL="0">
              <a:lnSpc>
                <a:spcPct val="130000"/>
              </a:lnSpc>
              <a:buNone/>
            </a:pPr>
            <a:r>
              <a:rPr lang="en-US" sz="13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setup() {</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pinMode(led, OUTPUT);</a:t>
            </a:r>
            <a:pPr indent="0" marL="0">
              <a:lnSpc>
                <a:spcPct val="130000"/>
              </a:lnSpc>
              <a:buNone/>
            </a:pPr>
            <a:r>
              <a:rPr lang="en-US" sz="1300" dirty="0">
                <a:solidFill>
                  <a:srgbClr val="86C9C4"/>
                </a:solidFill>
                <a:latin typeface="Courier New" pitchFamily="34" charset="0"/>
                <a:ea typeface="Courier New" pitchFamily="34" charset="-122"/>
                <a:cs typeface="Courier New" pitchFamily="34" charset="-120"/>
              </a:rPr>
              <a:t>  // initialiser la variable</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a:t>
            </a:r>
            <a:endParaRPr lang="en-US" sz="1300" dirty="0"/>
          </a:p>
          <a:p>
            <a:pPr indent="0" marL="0">
              <a:lnSpc>
                <a:spcPct val="130000"/>
              </a:lnSpc>
              <a:buNone/>
            </a:pPr>
            <a:r>
              <a:rPr lang="en-US" sz="13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loop() {</a:t>
            </a:r>
            <a:pPr indent="0" marL="0">
              <a:lnSpc>
                <a:spcPct val="130000"/>
              </a:lnSpc>
              <a:buNone/>
            </a:pPr>
            <a:r>
              <a:rPr lang="en-US" sz="1300" dirty="0">
                <a:solidFill>
                  <a:srgbClr val="86C9C4"/>
                </a:solidFill>
                <a:latin typeface="Courier New" pitchFamily="34" charset="0"/>
                <a:ea typeface="Courier New" pitchFamily="34" charset="-122"/>
                <a:cs typeface="Courier New" pitchFamily="34" charset="-120"/>
              </a:rPr>
              <a:t>  // tourner le programme</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digitalWrite(led, 1);</a:t>
            </a:r>
            <a:pPr indent="0" marL="0">
              <a:lnSpc>
                <a:spcPct val="130000"/>
              </a:lnSpc>
              <a:buNone/>
            </a:pPr>
            <a:r>
              <a:rPr lang="en-US" sz="1300" dirty="0">
                <a:solidFill>
                  <a:srgbClr val="86C9C4"/>
                </a:solidFill>
                <a:latin typeface="Courier New" pitchFamily="34" charset="0"/>
                <a:ea typeface="Courier New" pitchFamily="34" charset="-122"/>
                <a:cs typeface="Courier New" pitchFamily="34" charset="-120"/>
              </a:rPr>
              <a:t>  // contrôler la sortie de courant</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delay(1000);</a:t>
            </a:r>
            <a:pPr indent="0" marL="0">
              <a:lnSpc>
                <a:spcPct val="130000"/>
              </a:lnSpc>
              <a:buNone/>
            </a:pPr>
            <a:r>
              <a:rPr lang="en-US" sz="1300" dirty="0">
                <a:solidFill>
                  <a:srgbClr val="86C9C4"/>
                </a:solidFill>
                <a:latin typeface="Courier New" pitchFamily="34" charset="0"/>
                <a:ea typeface="Courier New" pitchFamily="34" charset="-122"/>
                <a:cs typeface="Courier New" pitchFamily="34" charset="-120"/>
              </a:rPr>
              <a:t>  // pendant ... en ms</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  digitalWrite(led, 0);</a:t>
            </a:r>
            <a:endParaRPr lang="en-US" sz="1300" dirty="0"/>
          </a:p>
          <a:p>
            <a:pPr indent="0" marL="0">
              <a:lnSpc>
                <a:spcPct val="130000"/>
              </a:lnSpc>
              <a:buNone/>
            </a:pPr>
            <a:r>
              <a:rPr lang="en-US" sz="1300" dirty="0">
                <a:solidFill>
                  <a:srgbClr val="EDE7DA"/>
                </a:solidFill>
                <a:latin typeface="Courier New" pitchFamily="34" charset="0"/>
                <a:ea typeface="Courier New" pitchFamily="34" charset="-122"/>
                <a:cs typeface="Courier New" pitchFamily="34" charset="-120"/>
              </a:rPr>
              <a:t>}</a:t>
            </a:r>
            <a:endParaRPr lang="en-US" sz="1300" dirty="0"/>
          </a:p>
        </p:txBody>
      </p:sp>
      <p:sp>
        <p:nvSpPr>
          <p:cNvPr id="8" name="Shape 6"/>
          <p:cNvSpPr/>
          <p:nvPr/>
        </p:nvSpPr>
        <p:spPr>
          <a:xfrm>
            <a:off x="7543800" y="2489200"/>
            <a:ext cx="3835400" cy="1460500"/>
          </a:xfrm>
          <a:prstGeom prst="roundRect">
            <a:avLst>
              <a:gd name="adj" fmla="val 8696"/>
            </a:avLst>
          </a:prstGeom>
          <a:solidFill>
            <a:srgbClr val="FFFDF8"/>
          </a:solidFill>
          <a:ln w="9525">
            <a:solidFill>
              <a:srgbClr val="DDD5C4"/>
            </a:solidFill>
            <a:prstDash val="solid"/>
          </a:ln>
        </p:spPr>
      </p:sp>
      <p:sp>
        <p:nvSpPr>
          <p:cNvPr id="9" name="Text 7"/>
          <p:cNvSpPr txBox="1"/>
          <p:nvPr/>
        </p:nvSpPr>
        <p:spPr>
          <a:xfrm>
            <a:off x="7772400" y="2692400"/>
            <a:ext cx="33782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setup()</a:t>
            </a:r>
            <a:endParaRPr lang="en-US" sz="1600" dirty="0"/>
          </a:p>
        </p:txBody>
      </p:sp>
      <p:sp>
        <p:nvSpPr>
          <p:cNvPr id="10" name="Text 8"/>
          <p:cNvSpPr txBox="1"/>
          <p:nvPr/>
        </p:nvSpPr>
        <p:spPr>
          <a:xfrm>
            <a:off x="7772400" y="3048000"/>
            <a:ext cx="3378200" cy="6985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S'exécute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une seule fois</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au démarrage. On y prépare les broches (pinMode).</a:t>
            </a:r>
            <a:endParaRPr lang="en-US" sz="1300" dirty="0"/>
          </a:p>
        </p:txBody>
      </p:sp>
      <p:sp>
        <p:nvSpPr>
          <p:cNvPr id="11" name="Shape 9"/>
          <p:cNvSpPr/>
          <p:nvPr/>
        </p:nvSpPr>
        <p:spPr>
          <a:xfrm>
            <a:off x="7543800" y="4102100"/>
            <a:ext cx="3835400" cy="1270000"/>
          </a:xfrm>
          <a:prstGeom prst="roundRect">
            <a:avLst>
              <a:gd name="adj" fmla="val 10000"/>
            </a:avLst>
          </a:prstGeom>
          <a:solidFill>
            <a:srgbClr val="FFFDF8"/>
          </a:solidFill>
          <a:ln w="9525">
            <a:solidFill>
              <a:srgbClr val="DDD5C4"/>
            </a:solidFill>
            <a:prstDash val="solid"/>
          </a:ln>
        </p:spPr>
      </p:sp>
      <p:sp>
        <p:nvSpPr>
          <p:cNvPr id="12" name="Text 10"/>
          <p:cNvSpPr txBox="1"/>
          <p:nvPr/>
        </p:nvSpPr>
        <p:spPr>
          <a:xfrm>
            <a:off x="7772400" y="4305300"/>
            <a:ext cx="33782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loop()</a:t>
            </a:r>
            <a:endParaRPr lang="en-US" sz="1600" dirty="0"/>
          </a:p>
        </p:txBody>
      </p:sp>
      <p:sp>
        <p:nvSpPr>
          <p:cNvPr id="13" name="Text 11"/>
          <p:cNvSpPr txBox="1"/>
          <p:nvPr/>
        </p:nvSpPr>
        <p:spPr>
          <a:xfrm>
            <a:off x="7772400" y="4660900"/>
            <a:ext cx="3378200" cy="508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Se répète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à l'infini</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C'est le programme qui « tourne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6</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PARTIE 0 · LES BASES</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La LED a un sens : + et −</a:t>
            </a:r>
            <a:endParaRPr lang="en-US" sz="3200" dirty="0"/>
          </a:p>
        </p:txBody>
      </p:sp>
      <p:sp>
        <p:nvSpPr>
          <p:cNvPr id="5" name="Shape 3"/>
          <p:cNvSpPr/>
          <p:nvPr/>
        </p:nvSpPr>
        <p:spPr>
          <a:xfrm>
            <a:off x="812800" y="1854200"/>
            <a:ext cx="4064000" cy="3683000"/>
          </a:xfrm>
          <a:prstGeom prst="roundRect">
            <a:avLst>
              <a:gd name="adj" fmla="val 3448"/>
            </a:avLst>
          </a:prstGeom>
          <a:solidFill>
            <a:srgbClr val="FFFDF8"/>
          </a:solidFill>
          <a:ln w="9525">
            <a:solidFill>
              <a:srgbClr val="DDD5C4"/>
            </a:solidFill>
            <a:prstDash val="solid"/>
          </a:ln>
        </p:spPr>
      </p:sp>
      <p:pic>
        <p:nvPicPr>
          <p:cNvPr id="6" name="Image 0" descr="Une LED : la patte longue est l'anode (+), la patte courte est la cathode (−)">    </p:cNvPr>
          <p:cNvPicPr>
            <a:picLocks noChangeAspect="1"/>
          </p:cNvPicPr>
          <p:nvPr/>
        </p:nvPicPr>
        <p:blipFill>
          <a:blip r:embed="rId1"/>
          <a:stretch>
            <a:fillRect/>
          </a:stretch>
        </p:blipFill>
        <p:spPr>
          <a:xfrm>
            <a:off x="1066800" y="1917700"/>
            <a:ext cx="2667000" cy="3556000"/>
          </a:xfrm>
          <a:prstGeom prst="rect">
            <a:avLst/>
          </a:prstGeom>
        </p:spPr>
      </p:pic>
      <p:sp>
        <p:nvSpPr>
          <p:cNvPr id="7" name="Text 4"/>
          <p:cNvSpPr txBox="1"/>
          <p:nvPr/>
        </p:nvSpPr>
        <p:spPr>
          <a:xfrm>
            <a:off x="1066800" y="4965700"/>
            <a:ext cx="1397000" cy="508000"/>
          </a:xfrm>
          <a:prstGeom prst="rect">
            <a:avLst/>
          </a:prstGeom>
          <a:noFill/>
          <a:ln/>
        </p:spPr>
        <p:txBody>
          <a:bodyPr wrap="square" lIns="0" tIns="0" rIns="0" bIns="0" rtlCol="0" anchor="t"/>
          <a:lstStyle/>
          <a:p>
            <a:pPr algn="l" indent="0" marL="0">
              <a:lnSpc>
                <a:spcPct val="110000"/>
              </a:lnSpc>
              <a:buNone/>
            </a:pPr>
            <a:r>
              <a:rPr lang="en-US" sz="1300" b="1" dirty="0">
                <a:solidFill>
                  <a:srgbClr val="086A70"/>
                </a:solidFill>
                <a:latin typeface="Calibri" pitchFamily="34" charset="0"/>
                <a:ea typeface="Calibri" pitchFamily="34" charset="-122"/>
                <a:cs typeface="Calibri" pitchFamily="34" charset="-120"/>
              </a:rPr>
              <a:t>Anode +</a:t>
            </a:r>
            <a:endParaRPr lang="en-US" sz="1300" dirty="0"/>
          </a:p>
          <a:p>
            <a:pPr algn="l" indent="0" marL="0">
              <a:lnSpc>
                <a:spcPct val="110000"/>
              </a:lnSpc>
              <a:buNone/>
            </a:pPr>
            <a:r>
              <a:rPr lang="en-US" sz="1300" b="1" dirty="0">
                <a:solidFill>
                  <a:srgbClr val="086A70"/>
                </a:solidFill>
                <a:latin typeface="Calibri" pitchFamily="34" charset="0"/>
                <a:ea typeface="Calibri" pitchFamily="34" charset="-122"/>
                <a:cs typeface="Calibri" pitchFamily="34" charset="-120"/>
              </a:rPr>
              <a:t>(longue)</a:t>
            </a:r>
            <a:endParaRPr lang="en-US" sz="1300" dirty="0"/>
          </a:p>
        </p:txBody>
      </p:sp>
      <p:sp>
        <p:nvSpPr>
          <p:cNvPr id="8" name="Text 5"/>
          <p:cNvSpPr txBox="1"/>
          <p:nvPr/>
        </p:nvSpPr>
        <p:spPr>
          <a:xfrm>
            <a:off x="2781300" y="4330700"/>
            <a:ext cx="2032000" cy="508000"/>
          </a:xfrm>
          <a:prstGeom prst="rect">
            <a:avLst/>
          </a:prstGeom>
          <a:noFill/>
          <a:ln/>
        </p:spPr>
        <p:txBody>
          <a:bodyPr wrap="square" lIns="0" tIns="0" rIns="0" bIns="0" rtlCol="0" anchor="t"/>
          <a:lstStyle/>
          <a:p>
            <a:pPr algn="l" indent="0" marL="0">
              <a:lnSpc>
                <a:spcPct val="110000"/>
              </a:lnSpc>
              <a:buNone/>
            </a:pPr>
            <a:r>
              <a:rPr lang="en-US" sz="1300" b="1" dirty="0">
                <a:solidFill>
                  <a:srgbClr val="9A4712"/>
                </a:solidFill>
                <a:latin typeface="Calibri" pitchFamily="34" charset="0"/>
                <a:ea typeface="Calibri" pitchFamily="34" charset="-122"/>
                <a:cs typeface="Calibri" pitchFamily="34" charset="-120"/>
              </a:rPr>
              <a:t>Cathode −</a:t>
            </a:r>
            <a:endParaRPr lang="en-US" sz="1300" dirty="0"/>
          </a:p>
          <a:p>
            <a:pPr algn="l" indent="0" marL="0">
              <a:lnSpc>
                <a:spcPct val="110000"/>
              </a:lnSpc>
              <a:buNone/>
            </a:pPr>
            <a:r>
              <a:rPr lang="en-US" sz="1300" b="1" dirty="0">
                <a:solidFill>
                  <a:srgbClr val="9A4712"/>
                </a:solidFill>
                <a:latin typeface="Calibri" pitchFamily="34" charset="0"/>
                <a:ea typeface="Calibri" pitchFamily="34" charset="-122"/>
                <a:cs typeface="Calibri" pitchFamily="34" charset="-120"/>
              </a:rPr>
              <a:t>(courte, côté plat)</a:t>
            </a:r>
            <a:endParaRPr lang="en-US" sz="1300" dirty="0"/>
          </a:p>
        </p:txBody>
      </p:sp>
      <p:sp>
        <p:nvSpPr>
          <p:cNvPr id="9" name="Text 6"/>
          <p:cNvSpPr txBox="1"/>
          <p:nvPr/>
        </p:nvSpPr>
        <p:spPr>
          <a:xfrm>
            <a:off x="5232400" y="1905000"/>
            <a:ext cx="6146800" cy="381000"/>
          </a:xfrm>
          <a:prstGeom prst="rect">
            <a:avLst/>
          </a:prstGeom>
          <a:noFill/>
          <a:ln/>
        </p:spPr>
        <p:txBody>
          <a:bodyPr wrap="square" lIns="0" tIns="0" rIns="0" bIns="0" rtlCol="0" anchor="t"/>
          <a:lstStyle/>
          <a:p>
            <a:pPr algn="l" indent="0" marL="0">
              <a:lnSpc>
                <a:spcPct val="105000"/>
              </a:lnSpc>
              <a:buNone/>
            </a:pPr>
            <a:r>
              <a:rPr lang="en-US" sz="1968" i="1" dirty="0">
                <a:solidFill>
                  <a:srgbClr val="9A4712"/>
                </a:solidFill>
                <a:latin typeface="Calibri" pitchFamily="34" charset="0"/>
                <a:ea typeface="Calibri" pitchFamily="34" charset="-122"/>
                <a:cs typeface="Calibri" pitchFamily="34" charset="-120"/>
              </a:rPr>
              <a:t>« LED : − cathode, + anode »</a:t>
            </a:r>
            <a:endParaRPr lang="en-US" sz="1968" dirty="0"/>
          </a:p>
        </p:txBody>
      </p:sp>
      <p:sp>
        <p:nvSpPr>
          <p:cNvPr id="10" name="Text 7"/>
          <p:cNvSpPr txBox="1"/>
          <p:nvPr/>
        </p:nvSpPr>
        <p:spPr>
          <a:xfrm>
            <a:off x="5232400" y="2476500"/>
            <a:ext cx="6146800" cy="571500"/>
          </a:xfrm>
          <a:prstGeom prst="rect">
            <a:avLst/>
          </a:prstGeom>
          <a:noFill/>
          <a:ln/>
        </p:spPr>
        <p:txBody>
          <a:bodyPr wrap="square" lIns="0" tIns="0" rIns="0" bIns="0" rtlCol="0" anchor="t"/>
          <a:lstStyle/>
          <a:p>
            <a:pPr algn="l" indent="0" marL="0">
              <a:lnSpc>
                <a:spcPct val="120000"/>
              </a:lnSpc>
              <a:buNone/>
            </a:pPr>
            <a:r>
              <a:rPr lang="en-US" sz="1500" b="1" dirty="0">
                <a:solidFill>
                  <a:srgbClr val="3E4A52"/>
                </a:solidFill>
                <a:latin typeface="Calibri" pitchFamily="34" charset="0"/>
                <a:ea typeface="Calibri" pitchFamily="34" charset="-122"/>
                <a:cs typeface="Calibri" pitchFamily="34" charset="-120"/>
              </a:rPr>
              <a:t>+ anode</a:t>
            </a:r>
            <a:pPr algn="l" indent="0" marL="0">
              <a:lnSpc>
                <a:spcPct val="120000"/>
              </a:lnSpc>
              <a:buNone/>
            </a:pPr>
            <a:r>
              <a:rPr lang="en-US" sz="1500" dirty="0">
                <a:solidFill>
                  <a:srgbClr val="3E4A52"/>
                </a:solidFill>
                <a:latin typeface="Calibri" pitchFamily="34" charset="0"/>
                <a:ea typeface="Calibri" pitchFamily="34" charset="-122"/>
                <a:cs typeface="Calibri" pitchFamily="34" charset="-120"/>
              </a:rPr>
              <a:t> (patte longue) → côté broche Arduino (ex. 13).</a:t>
            </a:r>
            <a:endParaRPr lang="en-US" sz="1500" dirty="0"/>
          </a:p>
        </p:txBody>
      </p:sp>
      <p:sp>
        <p:nvSpPr>
          <p:cNvPr id="11" name="Text 8"/>
          <p:cNvSpPr txBox="1"/>
          <p:nvPr/>
        </p:nvSpPr>
        <p:spPr>
          <a:xfrm>
            <a:off x="5232400" y="3111500"/>
            <a:ext cx="6146800" cy="571500"/>
          </a:xfrm>
          <a:prstGeom prst="rect">
            <a:avLst/>
          </a:prstGeom>
          <a:noFill/>
          <a:ln/>
        </p:spPr>
        <p:txBody>
          <a:bodyPr wrap="square" lIns="0" tIns="0" rIns="0" bIns="0" rtlCol="0" anchor="t"/>
          <a:lstStyle/>
          <a:p>
            <a:pPr algn="l" indent="0" marL="0">
              <a:lnSpc>
                <a:spcPct val="120000"/>
              </a:lnSpc>
              <a:buNone/>
            </a:pPr>
            <a:r>
              <a:rPr lang="en-US" sz="1500" b="1" dirty="0">
                <a:solidFill>
                  <a:srgbClr val="3E4A52"/>
                </a:solidFill>
                <a:latin typeface="Calibri" pitchFamily="34" charset="0"/>
                <a:ea typeface="Calibri" pitchFamily="34" charset="-122"/>
                <a:cs typeface="Calibri" pitchFamily="34" charset="-120"/>
              </a:rPr>
              <a:t>− cathode</a:t>
            </a:r>
            <a:pPr algn="l" indent="0" marL="0">
              <a:lnSpc>
                <a:spcPct val="120000"/>
              </a:lnSpc>
              <a:buNone/>
            </a:pPr>
            <a:r>
              <a:rPr lang="en-US" sz="1500" dirty="0">
                <a:solidFill>
                  <a:srgbClr val="3E4A52"/>
                </a:solidFill>
                <a:latin typeface="Calibri" pitchFamily="34" charset="0"/>
                <a:ea typeface="Calibri" pitchFamily="34" charset="-122"/>
                <a:cs typeface="Calibri" pitchFamily="34" charset="-120"/>
              </a:rPr>
              <a:t> (patte courte, côté plat) → côté GND.</a:t>
            </a:r>
            <a:endParaRPr lang="en-US" sz="1500" dirty="0"/>
          </a:p>
        </p:txBody>
      </p:sp>
      <p:sp>
        <p:nvSpPr>
          <p:cNvPr id="12" name="Text 9"/>
          <p:cNvSpPr txBox="1"/>
          <p:nvPr/>
        </p:nvSpPr>
        <p:spPr>
          <a:xfrm>
            <a:off x="5232400" y="3746500"/>
            <a:ext cx="6146800" cy="762000"/>
          </a:xfrm>
          <a:prstGeom prst="rect">
            <a:avLst/>
          </a:prstGeom>
          <a:noFill/>
          <a:ln/>
        </p:spPr>
        <p:txBody>
          <a:bodyPr wrap="square" lIns="0" tIns="0" rIns="0" bIns="0" rtlCol="0" anchor="t"/>
          <a:lstStyle/>
          <a:p>
            <a:pPr algn="l" indent="0" marL="0">
              <a:lnSpc>
                <a:spcPct val="120000"/>
              </a:lnSpc>
              <a:buNone/>
            </a:pPr>
            <a:r>
              <a:rPr lang="en-US" sz="1500" b="1" dirty="0">
                <a:solidFill>
                  <a:srgbClr val="3E4A52"/>
                </a:solidFill>
                <a:latin typeface="Calibri" pitchFamily="34" charset="0"/>
                <a:ea typeface="Calibri" pitchFamily="34" charset="-122"/>
                <a:cs typeface="Calibri" pitchFamily="34" charset="-120"/>
              </a:rPr>
              <a:t>Toujours une résistance</a:t>
            </a:r>
            <a:pPr algn="l" indent="0" marL="0">
              <a:lnSpc>
                <a:spcPct val="120000"/>
              </a:lnSpc>
              <a:buNone/>
            </a:pPr>
            <a:r>
              <a:rPr lang="en-US" sz="1500" dirty="0">
                <a:solidFill>
                  <a:srgbClr val="3E4A52"/>
                </a:solidFill>
                <a:latin typeface="Calibri" pitchFamily="34" charset="0"/>
                <a:ea typeface="Calibri" pitchFamily="34" charset="-122"/>
                <a:cs typeface="Calibri" pitchFamily="34" charset="-120"/>
              </a:rPr>
              <a:t> en série (souvent 220 à 330 Ω) : elle limite le courant, sinon la LED peut griller.</a:t>
            </a:r>
            <a:endParaRPr lang="en-US" sz="1500" dirty="0"/>
          </a:p>
        </p:txBody>
      </p:sp>
      <p:sp>
        <p:nvSpPr>
          <p:cNvPr id="13" name="Text 10"/>
          <p:cNvSpPr txBox="1"/>
          <p:nvPr/>
        </p:nvSpPr>
        <p:spPr>
          <a:xfrm>
            <a:off x="5232400" y="4635500"/>
            <a:ext cx="6146800" cy="762000"/>
          </a:xfrm>
          <a:prstGeom prst="rect">
            <a:avLst/>
          </a:prstGeom>
          <a:noFill/>
          <a:ln/>
        </p:spPr>
        <p:txBody>
          <a:bodyPr wrap="square" lIns="0" tIns="0" rIns="0" bIns="0" rtlCol="0" anchor="t"/>
          <a:lstStyle/>
          <a:p>
            <a:pPr algn="l" indent="0" marL="0">
              <a:lnSpc>
                <a:spcPct val="120000"/>
              </a:lnSpc>
              <a:buNone/>
            </a:pPr>
            <a:r>
              <a:rPr lang="en-US" sz="1500" dirty="0">
                <a:solidFill>
                  <a:srgbClr val="5E6A70"/>
                </a:solidFill>
                <a:latin typeface="Calibri" pitchFamily="34" charset="0"/>
                <a:ea typeface="Calibri" pitchFamily="34" charset="-122"/>
                <a:cs typeface="Calibri" pitchFamily="34" charset="-120"/>
              </a:rPr>
              <a:t>Branchée à l'envers, la LED ne s'allume pas (elle ne laisse passer le courant que dans un sens).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7</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PARTIE 0 · LES BASES</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La breadboard : qui est relié à qui ?</a:t>
            </a:r>
            <a:endParaRPr lang="en-US" sz="3200" dirty="0"/>
          </a:p>
        </p:txBody>
      </p:sp>
      <p:pic>
        <p:nvPicPr>
          <p:cNvPr id="5" name="Image 0" descr="Breadboard vue de dessus : rails + et − en haut et en bas, rangées de 5 trous reliées au milieu">    </p:cNvPr>
          <p:cNvPicPr>
            <a:picLocks noChangeAspect="1"/>
          </p:cNvPicPr>
          <p:nvPr/>
        </p:nvPicPr>
        <p:blipFill>
          <a:blip r:embed="rId1"/>
          <a:stretch>
            <a:fillRect/>
          </a:stretch>
        </p:blipFill>
        <p:spPr>
          <a:xfrm>
            <a:off x="812800" y="1854200"/>
            <a:ext cx="5715000" cy="2984500"/>
          </a:xfrm>
          <a:prstGeom prst="rect">
            <a:avLst/>
          </a:prstGeom>
        </p:spPr>
      </p:pic>
      <p:sp>
        <p:nvSpPr>
          <p:cNvPr id="6" name="Shape 3"/>
          <p:cNvSpPr/>
          <p:nvPr/>
        </p:nvSpPr>
        <p:spPr>
          <a:xfrm>
            <a:off x="6832600" y="1854200"/>
            <a:ext cx="304800" cy="304800"/>
          </a:xfrm>
          <a:prstGeom prst="ellipse">
            <a:avLst/>
          </a:prstGeom>
          <a:solidFill>
            <a:srgbClr val="2E6FD1"/>
          </a:solidFill>
          <a:ln/>
        </p:spPr>
      </p:sp>
      <p:sp>
        <p:nvSpPr>
          <p:cNvPr id="7" name="Text 4"/>
          <p:cNvSpPr txBox="1"/>
          <p:nvPr/>
        </p:nvSpPr>
        <p:spPr>
          <a:xfrm>
            <a:off x="68326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7264400" y="1879600"/>
            <a:ext cx="4114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Les rails + / −</a:t>
            </a:r>
            <a:endParaRPr lang="en-US" sz="1200" dirty="0"/>
          </a:p>
        </p:txBody>
      </p:sp>
      <p:sp>
        <p:nvSpPr>
          <p:cNvPr id="9" name="Text 6"/>
          <p:cNvSpPr txBox="1"/>
          <p:nvPr/>
        </p:nvSpPr>
        <p:spPr>
          <a:xfrm>
            <a:off x="7264400" y="2120900"/>
            <a:ext cx="4114800" cy="558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Toute la ligne est reliée. Pratique pour partager le 5 V (+ rouge) et le GND (− bleu).</a:t>
            </a:r>
            <a:endParaRPr lang="en-US" sz="1200" dirty="0"/>
          </a:p>
        </p:txBody>
      </p:sp>
      <p:sp>
        <p:nvSpPr>
          <p:cNvPr id="10" name="Shape 7"/>
          <p:cNvSpPr/>
          <p:nvPr/>
        </p:nvSpPr>
        <p:spPr>
          <a:xfrm>
            <a:off x="6832600" y="2806700"/>
            <a:ext cx="304800" cy="304800"/>
          </a:xfrm>
          <a:prstGeom prst="ellipse">
            <a:avLst/>
          </a:prstGeom>
          <a:solidFill>
            <a:srgbClr val="086A70"/>
          </a:solidFill>
          <a:ln/>
        </p:spPr>
      </p:sp>
      <p:sp>
        <p:nvSpPr>
          <p:cNvPr id="11" name="Text 8"/>
          <p:cNvSpPr txBox="1"/>
          <p:nvPr/>
        </p:nvSpPr>
        <p:spPr>
          <a:xfrm>
            <a:off x="6832600" y="2806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2" name="Text 9"/>
          <p:cNvSpPr txBox="1"/>
          <p:nvPr/>
        </p:nvSpPr>
        <p:spPr>
          <a:xfrm>
            <a:off x="7264400" y="2832100"/>
            <a:ext cx="4114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Les rangées de 5</a:t>
            </a:r>
            <a:endParaRPr lang="en-US" sz="1200" dirty="0"/>
          </a:p>
        </p:txBody>
      </p:sp>
      <p:sp>
        <p:nvSpPr>
          <p:cNvPr id="13" name="Text 10"/>
          <p:cNvSpPr txBox="1"/>
          <p:nvPr/>
        </p:nvSpPr>
        <p:spPr>
          <a:xfrm>
            <a:off x="7264400" y="3073400"/>
            <a:ext cx="4114800" cy="558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Au milieu, chaque petite colonne de 5 trous est reliée (encadré vert).</a:t>
            </a:r>
            <a:endParaRPr lang="en-US" sz="1200" dirty="0"/>
          </a:p>
        </p:txBody>
      </p:sp>
      <p:sp>
        <p:nvSpPr>
          <p:cNvPr id="14" name="Shape 11"/>
          <p:cNvSpPr/>
          <p:nvPr/>
        </p:nvSpPr>
        <p:spPr>
          <a:xfrm>
            <a:off x="6832600" y="3759200"/>
            <a:ext cx="304800" cy="304800"/>
          </a:xfrm>
          <a:prstGeom prst="ellipse">
            <a:avLst/>
          </a:prstGeom>
          <a:solidFill>
            <a:srgbClr val="E8833A"/>
          </a:solidFill>
          <a:ln/>
        </p:spPr>
      </p:sp>
      <p:sp>
        <p:nvSpPr>
          <p:cNvPr id="15" name="Text 12"/>
          <p:cNvSpPr txBox="1"/>
          <p:nvPr/>
        </p:nvSpPr>
        <p:spPr>
          <a:xfrm>
            <a:off x="6832600" y="3759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7264400" y="3784600"/>
            <a:ext cx="4114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La rainure</a:t>
            </a:r>
            <a:endParaRPr lang="en-US" sz="1200" dirty="0"/>
          </a:p>
        </p:txBody>
      </p:sp>
      <p:sp>
        <p:nvSpPr>
          <p:cNvPr id="17" name="Text 14"/>
          <p:cNvSpPr txBox="1"/>
          <p:nvPr/>
        </p:nvSpPr>
        <p:spPr>
          <a:xfrm>
            <a:off x="7264400" y="4025900"/>
            <a:ext cx="4114800" cy="812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Elle coupe en deux : le haut et le bas ne se touchent pas (encadré orange). Le bouton se met à cheval dessus.</a:t>
            </a:r>
            <a:endParaRPr lang="en-US" sz="1200" dirty="0"/>
          </a:p>
        </p:txBody>
      </p:sp>
      <p:sp>
        <p:nvSpPr>
          <p:cNvPr id="18" name="Text 15"/>
          <p:cNvSpPr txBox="1"/>
          <p:nvPr/>
        </p:nvSpPr>
        <p:spPr>
          <a:xfrm>
            <a:off x="812800" y="5080000"/>
            <a:ext cx="10566400" cy="381000"/>
          </a:xfrm>
          <a:prstGeom prst="rect">
            <a:avLst/>
          </a:prstGeom>
          <a:noFill/>
          <a:ln/>
        </p:spPr>
        <p:txBody>
          <a:bodyPr wrap="square" lIns="0" tIns="0" rIns="0" bIns="0" rtlCol="0" anchor="t"/>
          <a:lstStyle/>
          <a:p>
            <a:pPr algn="l" indent="0" marL="0">
              <a:lnSpc>
                <a:spcPct val="105000"/>
              </a:lnSpc>
              <a:buNone/>
            </a:pPr>
            <a:r>
              <a:rPr lang="en-US" sz="1640" i="1" dirty="0">
                <a:solidFill>
                  <a:srgbClr val="9A4712"/>
                </a:solidFill>
                <a:latin typeface="Calibri" pitchFamily="34" charset="0"/>
                <a:ea typeface="Calibri" pitchFamily="34" charset="-122"/>
                <a:cs typeface="Calibri" pitchFamily="34" charset="-120"/>
              </a:rPr>
              <a:t>« tous connecté ensemble donc : la led en −, le câble − qui va en GND… »</a:t>
            </a:r>
            <a:endParaRPr lang="en-US" sz="16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52D"/>
        </a:solidFill>
      </p:bgPr>
    </p:bg>
    <p:spTree>
      <p:nvGrpSpPr>
        <p:cNvPr id="1" name=""/>
        <p:cNvGrpSpPr/>
        <p:nvPr/>
      </p:nvGrpSpPr>
      <p:grpSpPr>
        <a:xfrm>
          <a:off x="0" y="0"/>
          <a:ext cx="0" cy="0"/>
          <a:chOff x="0" y="0"/>
          <a:chExt cx="0" cy="0"/>
        </a:xfrm>
      </p:grpSpPr>
      <p:pic>
        <p:nvPicPr>
          <p:cNvPr id="2" name="Image 0" descr="Ma LED verte allumée sur la breadboard">    </p:cNvPr>
          <p:cNvPicPr>
            <a:picLocks noChangeAspect="1"/>
          </p:cNvPicPr>
          <p:nvPr/>
        </p:nvPicPr>
        <p:blipFill>
          <a:blip r:embed="rId1"/>
          <a:stretch>
            <a:fillRect/>
          </a:stretch>
        </p:blipFill>
        <p:spPr>
          <a:xfrm>
            <a:off x="7366000" y="0"/>
            <a:ext cx="4826000" cy="6858000"/>
          </a:xfrm>
          <a:prstGeom prst="rect">
            <a:avLst/>
          </a:prstGeom>
        </p:spPr>
      </p:pic>
      <p:sp>
        <p:nvSpPr>
          <p:cNvPr id="3" name="Text 0"/>
          <p:cNvSpPr txBox="1"/>
          <p:nvPr/>
        </p:nvSpPr>
        <p:spPr>
          <a:xfrm>
            <a:off x="812800" y="1587500"/>
            <a:ext cx="5715000" cy="1143000"/>
          </a:xfrm>
          <a:prstGeom prst="rect">
            <a:avLst/>
          </a:prstGeom>
          <a:noFill/>
          <a:ln/>
        </p:spPr>
        <p:txBody>
          <a:bodyPr wrap="square" lIns="0" tIns="0" rIns="0" bIns="0" rtlCol="0" anchor="t"/>
          <a:lstStyle/>
          <a:p>
            <a:pPr algn="l" indent="0" marL="0">
              <a:lnSpc>
                <a:spcPct val="90000"/>
              </a:lnSpc>
              <a:buNone/>
            </a:pPr>
            <a:r>
              <a:rPr lang="en-US" sz="9000" b="1" dirty="0">
                <a:solidFill>
                  <a:srgbClr val="E8833A"/>
                </a:solidFill>
                <a:latin typeface="Calibri" pitchFamily="34" charset="0"/>
                <a:ea typeface="Calibri" pitchFamily="34" charset="-122"/>
                <a:cs typeface="Calibri" pitchFamily="34" charset="-120"/>
              </a:rPr>
              <a:t>01</a:t>
            </a:r>
            <a:endParaRPr lang="en-US" sz="9000" dirty="0"/>
          </a:p>
        </p:txBody>
      </p:sp>
      <p:sp>
        <p:nvSpPr>
          <p:cNvPr id="4" name="Text 1"/>
          <p:cNvSpPr txBox="1"/>
          <p:nvPr/>
        </p:nvSpPr>
        <p:spPr>
          <a:xfrm>
            <a:off x="812800" y="2857500"/>
            <a:ext cx="57150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PROJET 1</a:t>
            </a:r>
            <a:endParaRPr lang="en-US" sz="1200" dirty="0"/>
          </a:p>
        </p:txBody>
      </p:sp>
      <p:sp>
        <p:nvSpPr>
          <p:cNvPr id="5" name="Text 2"/>
          <p:cNvSpPr txBox="1"/>
          <p:nvPr/>
        </p:nvSpPr>
        <p:spPr>
          <a:xfrm>
            <a:off x="812800" y="3175000"/>
            <a:ext cx="6350000" cy="571500"/>
          </a:xfrm>
          <a:prstGeom prst="rect">
            <a:avLst/>
          </a:prstGeom>
          <a:noFill/>
          <a:ln/>
        </p:spPr>
        <p:txBody>
          <a:bodyPr wrap="square" lIns="0" tIns="0" rIns="0" bIns="0" rtlCol="0" anchor="t"/>
          <a:lstStyle/>
          <a:p>
            <a:pPr algn="l" indent="0" marL="0">
              <a:lnSpc>
                <a:spcPct val="110000"/>
              </a:lnSpc>
              <a:buNone/>
            </a:pPr>
            <a:r>
              <a:rPr lang="en-US" sz="3600" b="1" dirty="0">
                <a:solidFill>
                  <a:srgbClr val="F5F1E8"/>
                </a:solidFill>
                <a:latin typeface="Calibri" pitchFamily="34" charset="0"/>
                <a:ea typeface="Calibri" pitchFamily="34" charset="-122"/>
                <a:cs typeface="Calibri" pitchFamily="34" charset="-120"/>
              </a:rPr>
              <a:t>MyFirstLed</a:t>
            </a:r>
            <a:endParaRPr lang="en-US" sz="3600" dirty="0"/>
          </a:p>
        </p:txBody>
      </p:sp>
      <p:sp>
        <p:nvSpPr>
          <p:cNvPr id="6" name="Text 3"/>
          <p:cNvSpPr txBox="1"/>
          <p:nvPr/>
        </p:nvSpPr>
        <p:spPr>
          <a:xfrm>
            <a:off x="812800" y="3873500"/>
            <a:ext cx="6223000" cy="635000"/>
          </a:xfrm>
          <a:prstGeom prst="rect">
            <a:avLst/>
          </a:prstGeom>
          <a:noFill/>
          <a:ln/>
        </p:spPr>
        <p:txBody>
          <a:bodyPr wrap="square" lIns="0" tIns="0" rIns="0" bIns="0" rtlCol="0" anchor="t"/>
          <a:lstStyle/>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Faire clignoter une LED branchée sur la broche 13.</a:t>
            </a:r>
            <a:endParaRPr lang="en-US" sz="1600" dirty="0"/>
          </a:p>
        </p:txBody>
      </p:sp>
      <p:sp>
        <p:nvSpPr>
          <p:cNvPr id="7" name="Text 4"/>
          <p:cNvSpPr txBox="1"/>
          <p:nvPr/>
        </p:nvSpPr>
        <p:spPr>
          <a:xfrm>
            <a:off x="812800" y="4635500"/>
            <a:ext cx="6223000" cy="762000"/>
          </a:xfrm>
          <a:prstGeom prst="rect">
            <a:avLst/>
          </a:prstGeom>
          <a:noFill/>
          <a:ln/>
        </p:spPr>
        <p:txBody>
          <a:bodyPr wrap="square" lIns="0" tIns="0" rIns="0" bIns="0" rtlCol="0" anchor="t"/>
          <a:lstStyle/>
          <a:p>
            <a:pPr algn="l" indent="0" marL="0">
              <a:lnSpc>
                <a:spcPct val="105000"/>
              </a:lnSpc>
              <a:buNone/>
            </a:pPr>
            <a:r>
              <a:rPr lang="en-US" sz="1968" i="1" dirty="0">
                <a:solidFill>
                  <a:srgbClr val="F2A765"/>
                </a:solidFill>
                <a:latin typeface="Calibri" pitchFamily="34" charset="0"/>
                <a:ea typeface="Calibri" pitchFamily="34" charset="-122"/>
                <a:cs typeface="Calibri" pitchFamily="34" charset="-120"/>
              </a:rPr>
              <a:t>« mon tout premier montage »</a:t>
            </a:r>
            <a:endParaRPr lang="en-US" sz="196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9</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1 · MYFIRSTLED</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montage : un seul chemin pour le courant</a:t>
            </a:r>
            <a:endParaRPr lang="en-US" sz="3200" dirty="0"/>
          </a:p>
        </p:txBody>
      </p:sp>
      <p:sp>
        <p:nvSpPr>
          <p:cNvPr id="5" name="Shape 3"/>
          <p:cNvSpPr/>
          <p:nvPr/>
        </p:nvSpPr>
        <p:spPr>
          <a:xfrm>
            <a:off x="812800" y="1854200"/>
            <a:ext cx="7213600" cy="2286000"/>
          </a:xfrm>
          <a:prstGeom prst="roundRect">
            <a:avLst>
              <a:gd name="adj" fmla="val 4444"/>
            </a:avLst>
          </a:prstGeom>
          <a:solidFill>
            <a:srgbClr val="FFFFFF"/>
          </a:solidFill>
          <a:ln w="9525">
            <a:solidFill>
              <a:srgbClr val="DDD5C4"/>
            </a:solidFill>
            <a:prstDash val="solid"/>
          </a:ln>
        </p:spPr>
      </p:sp>
      <p:pic>
        <p:nvPicPr>
          <p:cNvPr id="6" name="Image 0" descr="Schéma du montage MyFirstLed">    </p:cNvPr>
          <p:cNvPicPr>
            <a:picLocks noChangeAspect="1"/>
          </p:cNvPicPr>
          <p:nvPr/>
        </p:nvPicPr>
        <p:blipFill>
          <a:blip r:embed="rId1"/>
          <a:stretch>
            <a:fillRect/>
          </a:stretch>
        </p:blipFill>
        <p:spPr>
          <a:xfrm>
            <a:off x="2346358" y="1930400"/>
            <a:ext cx="4146483" cy="2133600"/>
          </a:xfrm>
          <a:prstGeom prst="rect">
            <a:avLst/>
          </a:prstGeom>
        </p:spPr>
      </p:pic>
      <p:sp>
        <p:nvSpPr>
          <p:cNvPr id="7" name="Text 4"/>
          <p:cNvSpPr txBox="1"/>
          <p:nvPr/>
        </p:nvSpPr>
        <p:spPr>
          <a:xfrm>
            <a:off x="812800" y="4216400"/>
            <a:ext cx="72136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Le schéma</a:t>
            </a:r>
            <a:endParaRPr lang="en-US" sz="1200" dirty="0"/>
          </a:p>
        </p:txBody>
      </p:sp>
      <p:sp>
        <p:nvSpPr>
          <p:cNvPr id="8" name="Shape 5"/>
          <p:cNvSpPr/>
          <p:nvPr/>
        </p:nvSpPr>
        <p:spPr>
          <a:xfrm>
            <a:off x="812800" y="4572000"/>
            <a:ext cx="1187450" cy="381000"/>
          </a:xfrm>
          <a:prstGeom prst="roundRect">
            <a:avLst>
              <a:gd name="adj" fmla="val 50000"/>
            </a:avLst>
          </a:prstGeom>
          <a:solidFill>
            <a:srgbClr val="16252D"/>
          </a:solidFill>
          <a:ln w="19050">
            <a:solidFill>
              <a:srgbClr val="16252D"/>
            </a:solidFill>
            <a:prstDash val="solid"/>
          </a:ln>
        </p:spPr>
      </p:sp>
      <p:sp>
        <p:nvSpPr>
          <p:cNvPr id="9" name="Text 6"/>
          <p:cNvSpPr txBox="1"/>
          <p:nvPr/>
        </p:nvSpPr>
        <p:spPr>
          <a:xfrm>
            <a:off x="812800" y="4572000"/>
            <a:ext cx="1187450" cy="3810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Broche 13</a:t>
            </a:r>
            <a:endParaRPr lang="en-US" sz="1300" dirty="0"/>
          </a:p>
        </p:txBody>
      </p:sp>
      <p:sp>
        <p:nvSpPr>
          <p:cNvPr id="10" name="Text 7"/>
          <p:cNvSpPr txBox="1"/>
          <p:nvPr/>
        </p:nvSpPr>
        <p:spPr>
          <a:xfrm>
            <a:off x="2051050" y="4572000"/>
            <a:ext cx="254000" cy="381000"/>
          </a:xfrm>
          <a:prstGeom prst="rect">
            <a:avLst/>
          </a:prstGeom>
          <a:noFill/>
          <a:ln/>
        </p:spPr>
        <p:txBody>
          <a:bodyPr wrap="square" lIns="0" tIns="0" rIns="0" bIns="0" rtlCol="0" anchor="ctr"/>
          <a:lstStyle/>
          <a:p>
            <a:pPr algn="ctr" indent="0" marL="0">
              <a:lnSpc>
                <a:spcPct val="110000"/>
              </a:lnSpc>
              <a:buNone/>
            </a:pPr>
            <a:r>
              <a:rPr lang="en-US" sz="1600" b="1" dirty="0">
                <a:solidFill>
                  <a:srgbClr val="086A70"/>
                </a:solidFill>
                <a:latin typeface="Calibri" pitchFamily="34" charset="0"/>
                <a:ea typeface="Calibri" pitchFamily="34" charset="-122"/>
                <a:cs typeface="Calibri" pitchFamily="34" charset="-120"/>
              </a:rPr>
              <a:t>→</a:t>
            </a:r>
            <a:endParaRPr lang="en-US" sz="1600" dirty="0"/>
          </a:p>
        </p:txBody>
      </p:sp>
      <p:sp>
        <p:nvSpPr>
          <p:cNvPr id="11" name="Shape 8"/>
          <p:cNvSpPr/>
          <p:nvPr/>
        </p:nvSpPr>
        <p:spPr>
          <a:xfrm>
            <a:off x="2355850" y="4572000"/>
            <a:ext cx="1282700" cy="381000"/>
          </a:xfrm>
          <a:prstGeom prst="roundRect">
            <a:avLst>
              <a:gd name="adj" fmla="val 50000"/>
            </a:avLst>
          </a:prstGeom>
          <a:solidFill>
            <a:srgbClr val="FFFDF8"/>
          </a:solidFill>
          <a:ln w="19050">
            <a:solidFill>
              <a:srgbClr val="DDD5C4"/>
            </a:solidFill>
            <a:prstDash val="solid"/>
          </a:ln>
        </p:spPr>
      </p:sp>
      <p:sp>
        <p:nvSpPr>
          <p:cNvPr id="12" name="Text 9"/>
          <p:cNvSpPr txBox="1"/>
          <p:nvPr/>
        </p:nvSpPr>
        <p:spPr>
          <a:xfrm>
            <a:off x="2355850" y="4572000"/>
            <a:ext cx="1282700" cy="381000"/>
          </a:xfrm>
          <a:prstGeom prst="rect">
            <a:avLst/>
          </a:prstGeom>
          <a:noFill/>
          <a:ln/>
        </p:spPr>
        <p:txBody>
          <a:bodyPr wrap="square" lIns="0" tIns="0" rIns="0" bIns="0" rtlCol="0" anchor="ctr"/>
          <a:lstStyle/>
          <a:p>
            <a:pPr algn="ctr" indent="0" marL="0">
              <a:lnSpc>
                <a:spcPct val="110000"/>
              </a:lnSpc>
              <a:buNone/>
            </a:pPr>
            <a:r>
              <a:rPr lang="en-US" sz="1300" b="1" dirty="0">
                <a:solidFill>
                  <a:srgbClr val="16252D"/>
                </a:solidFill>
                <a:latin typeface="Calibri" pitchFamily="34" charset="0"/>
                <a:ea typeface="Calibri" pitchFamily="34" charset="-122"/>
                <a:cs typeface="Calibri" pitchFamily="34" charset="-120"/>
              </a:rPr>
              <a:t>Résistance</a:t>
            </a:r>
            <a:endParaRPr lang="en-US" sz="1300" dirty="0"/>
          </a:p>
        </p:txBody>
      </p:sp>
      <p:sp>
        <p:nvSpPr>
          <p:cNvPr id="13" name="Text 10"/>
          <p:cNvSpPr txBox="1"/>
          <p:nvPr/>
        </p:nvSpPr>
        <p:spPr>
          <a:xfrm>
            <a:off x="3689350" y="4572000"/>
            <a:ext cx="254000" cy="381000"/>
          </a:xfrm>
          <a:prstGeom prst="rect">
            <a:avLst/>
          </a:prstGeom>
          <a:noFill/>
          <a:ln/>
        </p:spPr>
        <p:txBody>
          <a:bodyPr wrap="square" lIns="0" tIns="0" rIns="0" bIns="0" rtlCol="0" anchor="ctr"/>
          <a:lstStyle/>
          <a:p>
            <a:pPr algn="ctr" indent="0" marL="0">
              <a:lnSpc>
                <a:spcPct val="110000"/>
              </a:lnSpc>
              <a:buNone/>
            </a:pPr>
            <a:r>
              <a:rPr lang="en-US" sz="1600" b="1" dirty="0">
                <a:solidFill>
                  <a:srgbClr val="086A70"/>
                </a:solidFill>
                <a:latin typeface="Calibri" pitchFamily="34" charset="0"/>
                <a:ea typeface="Calibri" pitchFamily="34" charset="-122"/>
                <a:cs typeface="Calibri" pitchFamily="34" charset="-120"/>
              </a:rPr>
              <a:t>→</a:t>
            </a:r>
            <a:endParaRPr lang="en-US" sz="1600" dirty="0"/>
          </a:p>
        </p:txBody>
      </p:sp>
      <p:sp>
        <p:nvSpPr>
          <p:cNvPr id="14" name="Shape 11"/>
          <p:cNvSpPr/>
          <p:nvPr/>
        </p:nvSpPr>
        <p:spPr>
          <a:xfrm>
            <a:off x="3994150" y="4572000"/>
            <a:ext cx="1555750" cy="381000"/>
          </a:xfrm>
          <a:prstGeom prst="roundRect">
            <a:avLst>
              <a:gd name="adj" fmla="val 50000"/>
            </a:avLst>
          </a:prstGeom>
          <a:solidFill>
            <a:srgbClr val="FFFDF8"/>
          </a:solidFill>
          <a:ln w="19050">
            <a:solidFill>
              <a:srgbClr val="DDD5C4"/>
            </a:solidFill>
            <a:prstDash val="solid"/>
          </a:ln>
        </p:spPr>
      </p:sp>
      <p:sp>
        <p:nvSpPr>
          <p:cNvPr id="15" name="Text 12"/>
          <p:cNvSpPr txBox="1"/>
          <p:nvPr/>
        </p:nvSpPr>
        <p:spPr>
          <a:xfrm>
            <a:off x="3994150" y="4572000"/>
            <a:ext cx="1555750" cy="381000"/>
          </a:xfrm>
          <a:prstGeom prst="rect">
            <a:avLst/>
          </a:prstGeom>
          <a:noFill/>
          <a:ln/>
        </p:spPr>
        <p:txBody>
          <a:bodyPr wrap="square" lIns="0" tIns="0" rIns="0" bIns="0" rtlCol="0" anchor="ctr"/>
          <a:lstStyle/>
          <a:p>
            <a:pPr algn="ctr" indent="0" marL="0">
              <a:lnSpc>
                <a:spcPct val="110000"/>
              </a:lnSpc>
              <a:buNone/>
            </a:pPr>
            <a:r>
              <a:rPr lang="en-US" sz="1300" b="1" dirty="0">
                <a:solidFill>
                  <a:srgbClr val="16252D"/>
                </a:solidFill>
                <a:latin typeface="Calibri" pitchFamily="34" charset="0"/>
                <a:ea typeface="Calibri" pitchFamily="34" charset="-122"/>
                <a:cs typeface="Calibri" pitchFamily="34" charset="-120"/>
              </a:rPr>
              <a:t>LED + (anode)</a:t>
            </a:r>
            <a:endParaRPr lang="en-US" sz="1300" dirty="0"/>
          </a:p>
        </p:txBody>
      </p:sp>
      <p:sp>
        <p:nvSpPr>
          <p:cNvPr id="16" name="Text 13"/>
          <p:cNvSpPr txBox="1"/>
          <p:nvPr/>
        </p:nvSpPr>
        <p:spPr>
          <a:xfrm>
            <a:off x="5600700" y="4572000"/>
            <a:ext cx="254000" cy="381000"/>
          </a:xfrm>
          <a:prstGeom prst="rect">
            <a:avLst/>
          </a:prstGeom>
          <a:noFill/>
          <a:ln/>
        </p:spPr>
        <p:txBody>
          <a:bodyPr wrap="square" lIns="0" tIns="0" rIns="0" bIns="0" rtlCol="0" anchor="ctr"/>
          <a:lstStyle/>
          <a:p>
            <a:pPr algn="ctr" indent="0" marL="0">
              <a:lnSpc>
                <a:spcPct val="110000"/>
              </a:lnSpc>
              <a:buNone/>
            </a:pPr>
            <a:r>
              <a:rPr lang="en-US" sz="1600" b="1" dirty="0">
                <a:solidFill>
                  <a:srgbClr val="086A70"/>
                </a:solidFill>
                <a:latin typeface="Calibri" pitchFamily="34" charset="0"/>
                <a:ea typeface="Calibri" pitchFamily="34" charset="-122"/>
                <a:cs typeface="Calibri" pitchFamily="34" charset="-120"/>
              </a:rPr>
              <a:t>→</a:t>
            </a:r>
            <a:endParaRPr lang="en-US" sz="1600" dirty="0"/>
          </a:p>
        </p:txBody>
      </p:sp>
      <p:sp>
        <p:nvSpPr>
          <p:cNvPr id="17" name="Shape 14"/>
          <p:cNvSpPr/>
          <p:nvPr/>
        </p:nvSpPr>
        <p:spPr>
          <a:xfrm>
            <a:off x="5905500" y="4572000"/>
            <a:ext cx="1739900" cy="381000"/>
          </a:xfrm>
          <a:prstGeom prst="roundRect">
            <a:avLst>
              <a:gd name="adj" fmla="val 50000"/>
            </a:avLst>
          </a:prstGeom>
          <a:solidFill>
            <a:srgbClr val="FFFDF8"/>
          </a:solidFill>
          <a:ln w="19050">
            <a:solidFill>
              <a:srgbClr val="DDD5C4"/>
            </a:solidFill>
            <a:prstDash val="solid"/>
          </a:ln>
        </p:spPr>
      </p:sp>
      <p:sp>
        <p:nvSpPr>
          <p:cNvPr id="18" name="Text 15"/>
          <p:cNvSpPr txBox="1"/>
          <p:nvPr/>
        </p:nvSpPr>
        <p:spPr>
          <a:xfrm>
            <a:off x="5905500" y="4572000"/>
            <a:ext cx="1739900" cy="381000"/>
          </a:xfrm>
          <a:prstGeom prst="rect">
            <a:avLst/>
          </a:prstGeom>
          <a:noFill/>
          <a:ln/>
        </p:spPr>
        <p:txBody>
          <a:bodyPr wrap="square" lIns="0" tIns="0" rIns="0" bIns="0" rtlCol="0" anchor="ctr"/>
          <a:lstStyle/>
          <a:p>
            <a:pPr algn="ctr" indent="0" marL="0">
              <a:lnSpc>
                <a:spcPct val="110000"/>
              </a:lnSpc>
              <a:buNone/>
            </a:pPr>
            <a:r>
              <a:rPr lang="en-US" sz="1300" b="1" dirty="0">
                <a:solidFill>
                  <a:srgbClr val="16252D"/>
                </a:solidFill>
                <a:latin typeface="Calibri" pitchFamily="34" charset="0"/>
                <a:ea typeface="Calibri" pitchFamily="34" charset="-122"/>
                <a:cs typeface="Calibri" pitchFamily="34" charset="-120"/>
              </a:rPr>
              <a:t>LED − (cathode)</a:t>
            </a:r>
            <a:endParaRPr lang="en-US" sz="1300" dirty="0"/>
          </a:p>
        </p:txBody>
      </p:sp>
      <p:sp>
        <p:nvSpPr>
          <p:cNvPr id="19" name="Text 16"/>
          <p:cNvSpPr txBox="1"/>
          <p:nvPr/>
        </p:nvSpPr>
        <p:spPr>
          <a:xfrm>
            <a:off x="7696200" y="4572000"/>
            <a:ext cx="254000" cy="381000"/>
          </a:xfrm>
          <a:prstGeom prst="rect">
            <a:avLst/>
          </a:prstGeom>
          <a:noFill/>
          <a:ln/>
        </p:spPr>
        <p:txBody>
          <a:bodyPr wrap="square" lIns="0" tIns="0" rIns="0" bIns="0" rtlCol="0" anchor="ctr"/>
          <a:lstStyle/>
          <a:p>
            <a:pPr algn="ctr" indent="0" marL="0">
              <a:lnSpc>
                <a:spcPct val="110000"/>
              </a:lnSpc>
              <a:buNone/>
            </a:pPr>
            <a:r>
              <a:rPr lang="en-US" sz="1600" b="1" dirty="0">
                <a:solidFill>
                  <a:srgbClr val="086A70"/>
                </a:solidFill>
                <a:latin typeface="Calibri" pitchFamily="34" charset="0"/>
                <a:ea typeface="Calibri" pitchFamily="34" charset="-122"/>
                <a:cs typeface="Calibri" pitchFamily="34" charset="-120"/>
              </a:rPr>
              <a:t>→</a:t>
            </a:r>
            <a:endParaRPr lang="en-US" sz="1600" dirty="0"/>
          </a:p>
        </p:txBody>
      </p:sp>
      <p:sp>
        <p:nvSpPr>
          <p:cNvPr id="20" name="Shape 17"/>
          <p:cNvSpPr/>
          <p:nvPr/>
        </p:nvSpPr>
        <p:spPr>
          <a:xfrm>
            <a:off x="812800" y="5080000"/>
            <a:ext cx="635000" cy="381000"/>
          </a:xfrm>
          <a:prstGeom prst="roundRect">
            <a:avLst>
              <a:gd name="adj" fmla="val 50000"/>
            </a:avLst>
          </a:prstGeom>
          <a:solidFill>
            <a:srgbClr val="16252D"/>
          </a:solidFill>
          <a:ln w="19050">
            <a:solidFill>
              <a:srgbClr val="16252D"/>
            </a:solidFill>
            <a:prstDash val="solid"/>
          </a:ln>
        </p:spPr>
      </p:sp>
      <p:sp>
        <p:nvSpPr>
          <p:cNvPr id="21" name="Text 18"/>
          <p:cNvSpPr txBox="1"/>
          <p:nvPr/>
        </p:nvSpPr>
        <p:spPr>
          <a:xfrm>
            <a:off x="812800" y="5080000"/>
            <a:ext cx="635000" cy="3810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GND</a:t>
            </a:r>
            <a:endParaRPr lang="en-US" sz="1300" dirty="0"/>
          </a:p>
        </p:txBody>
      </p:sp>
      <p:pic>
        <p:nvPicPr>
          <p:cNvPr id="22" name="Image 1" descr="Photo de ma carte Arduino reliée à la breadboard">    </p:cNvPr>
          <p:cNvPicPr>
            <a:picLocks noChangeAspect="1"/>
          </p:cNvPicPr>
          <p:nvPr/>
        </p:nvPicPr>
        <p:blipFill>
          <a:blip r:embed="rId2"/>
          <a:stretch>
            <a:fillRect/>
          </a:stretch>
        </p:blipFill>
        <p:spPr>
          <a:xfrm>
            <a:off x="8331200" y="1854200"/>
            <a:ext cx="3048000" cy="3556000"/>
          </a:xfrm>
          <a:prstGeom prst="rect">
            <a:avLst/>
          </a:prstGeom>
        </p:spPr>
      </p:pic>
      <p:sp>
        <p:nvSpPr>
          <p:cNvPr id="23" name="Text 19"/>
          <p:cNvSpPr txBox="1"/>
          <p:nvPr/>
        </p:nvSpPr>
        <p:spPr>
          <a:xfrm>
            <a:off x="8331200" y="5486400"/>
            <a:ext cx="3048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Ma version en vrai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10</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1 · MYFIRSTLED</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code, ligne par ligne</a:t>
            </a:r>
            <a:endParaRPr lang="en-US" sz="3200" dirty="0"/>
          </a:p>
        </p:txBody>
      </p:sp>
      <p:sp>
        <p:nvSpPr>
          <p:cNvPr id="5" name="Shape 3"/>
          <p:cNvSpPr/>
          <p:nvPr/>
        </p:nvSpPr>
        <p:spPr>
          <a:xfrm>
            <a:off x="812800" y="1854200"/>
            <a:ext cx="5461000" cy="3200400"/>
          </a:xfrm>
          <a:prstGeom prst="roundRect">
            <a:avLst>
              <a:gd name="adj" fmla="val 3968"/>
            </a:avLst>
          </a:prstGeom>
          <a:solidFill>
            <a:srgbClr val="1C2E37"/>
          </a:solidFill>
          <a:ln/>
        </p:spPr>
      </p:sp>
      <p:sp>
        <p:nvSpPr>
          <p:cNvPr id="6" name="Text 4"/>
          <p:cNvSpPr txBox="1"/>
          <p:nvPr/>
        </p:nvSpPr>
        <p:spPr>
          <a:xfrm>
            <a:off x="1066800" y="2082800"/>
            <a:ext cx="4953000" cy="2743200"/>
          </a:xfrm>
          <a:prstGeom prst="rect">
            <a:avLst/>
          </a:prstGeom>
          <a:noFill/>
          <a:ln/>
        </p:spPr>
        <p:txBody>
          <a:bodyPr wrap="square" lIns="0" tIns="0" rIns="0" bIns="0" rtlCol="0" anchor="t"/>
          <a:lstStyle/>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const</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int led = 13;</a:t>
            </a:r>
            <a:pPr indent="0" marL="0">
              <a:lnSpc>
                <a:spcPct val="130000"/>
              </a:lnSpc>
              <a:buNone/>
            </a:pPr>
            <a:r>
              <a:rPr lang="en-US" sz="1200" dirty="0">
                <a:solidFill>
                  <a:srgbClr val="86C9C4"/>
                </a:solidFill>
                <a:latin typeface="Courier New" pitchFamily="34" charset="0"/>
                <a:ea typeface="Courier New" pitchFamily="34" charset="-122"/>
                <a:cs typeface="Courier New" pitchFamily="34" charset="-120"/>
              </a:rPr>
              <a:t>  // créer la variable</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setup()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pinMode (led, OUTPUT);</a:t>
            </a:r>
            <a:pPr indent="0" marL="0">
              <a:lnSpc>
                <a:spcPct val="130000"/>
              </a:lnSpc>
              <a:buNone/>
            </a:pPr>
            <a:r>
              <a:rPr lang="en-US" sz="1200" dirty="0">
                <a:solidFill>
                  <a:srgbClr val="86C9C4"/>
                </a:solidFill>
                <a:latin typeface="Courier New" pitchFamily="34" charset="0"/>
                <a:ea typeface="Courier New" pitchFamily="34" charset="-122"/>
                <a:cs typeface="Courier New" pitchFamily="34" charset="-120"/>
              </a:rPr>
              <a:t>  // initer la sortie</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loop()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digitalWrite (led, HIGH);</a:t>
            </a:r>
            <a:pPr indent="0" marL="0">
              <a:lnSpc>
                <a:spcPct val="130000"/>
              </a:lnSpc>
              <a:buNone/>
            </a:pPr>
            <a:r>
              <a:rPr lang="en-US" sz="1200" dirty="0">
                <a:solidFill>
                  <a:srgbClr val="86C9C4"/>
                </a:solidFill>
                <a:latin typeface="Courier New" pitchFamily="34" charset="0"/>
                <a:ea typeface="Courier New" pitchFamily="34" charset="-122"/>
                <a:cs typeface="Courier New" pitchFamily="34" charset="-120"/>
              </a:rPr>
              <a:t>  // 1 marche aussi</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delay (100);</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digitalWrite (led, LOW);</a:t>
            </a:r>
            <a:pPr indent="0" marL="0">
              <a:lnSpc>
                <a:spcPct val="130000"/>
              </a:lnSpc>
              <a:buNone/>
            </a:pPr>
            <a:r>
              <a:rPr lang="en-US" sz="1200" dirty="0">
                <a:solidFill>
                  <a:srgbClr val="86C9C4"/>
                </a:solidFill>
                <a:latin typeface="Courier New" pitchFamily="34" charset="0"/>
                <a:ea typeface="Courier New" pitchFamily="34" charset="-122"/>
                <a:cs typeface="Courier New" pitchFamily="34" charset="-120"/>
              </a:rPr>
              <a:t>  // 0 marche aussi</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delay (100);</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6527800" y="1854200"/>
            <a:ext cx="304800" cy="304800"/>
          </a:xfrm>
          <a:prstGeom prst="ellipse">
            <a:avLst/>
          </a:prstGeom>
          <a:solidFill>
            <a:srgbClr val="086A70"/>
          </a:solidFill>
          <a:ln/>
        </p:spPr>
      </p:sp>
      <p:sp>
        <p:nvSpPr>
          <p:cNvPr id="8" name="Text 6"/>
          <p:cNvSpPr txBox="1"/>
          <p:nvPr/>
        </p:nvSpPr>
        <p:spPr>
          <a:xfrm>
            <a:off x="65278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959600" y="1879600"/>
            <a:ext cx="4419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const int led = 13</a:t>
            </a:r>
            <a:endParaRPr lang="en-US" sz="1200" dirty="0"/>
          </a:p>
        </p:txBody>
      </p:sp>
      <p:sp>
        <p:nvSpPr>
          <p:cNvPr id="10" name="Text 8"/>
          <p:cNvSpPr txBox="1"/>
          <p:nvPr/>
        </p:nvSpPr>
        <p:spPr>
          <a:xfrm>
            <a:off x="6959600" y="2120900"/>
            <a:ext cx="4419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Je donne un nom à la broche 13. </a:t>
            </a:r>
            <a:pPr algn="l" indent="0" marL="0">
              <a:lnSpc>
                <a:spcPct val="120000"/>
              </a:lnSpc>
              <a:buNone/>
            </a:pPr>
            <a:r>
              <a:rPr lang="en-US" sz="1200" i="1" dirty="0">
                <a:solidFill>
                  <a:srgbClr val="3E4A52"/>
                </a:solidFill>
                <a:latin typeface="Calibri" pitchFamily="34" charset="0"/>
                <a:ea typeface="Calibri" pitchFamily="34" charset="-122"/>
                <a:cs typeface="Calibri" pitchFamily="34" charset="-120"/>
              </a:rPr>
              <a:t>const</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 cette valeur ne changera jamais.</a:t>
            </a:r>
            <a:endParaRPr lang="en-US" sz="1200" dirty="0"/>
          </a:p>
        </p:txBody>
      </p:sp>
      <p:sp>
        <p:nvSpPr>
          <p:cNvPr id="11" name="Shape 9"/>
          <p:cNvSpPr/>
          <p:nvPr/>
        </p:nvSpPr>
        <p:spPr>
          <a:xfrm>
            <a:off x="6527800" y="2679700"/>
            <a:ext cx="304800" cy="304800"/>
          </a:xfrm>
          <a:prstGeom prst="ellipse">
            <a:avLst/>
          </a:prstGeom>
          <a:solidFill>
            <a:srgbClr val="086A70"/>
          </a:solidFill>
          <a:ln/>
        </p:spPr>
      </p:sp>
      <p:sp>
        <p:nvSpPr>
          <p:cNvPr id="12" name="Text 10"/>
          <p:cNvSpPr txBox="1"/>
          <p:nvPr/>
        </p:nvSpPr>
        <p:spPr>
          <a:xfrm>
            <a:off x="6527800" y="2679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959600" y="2705100"/>
            <a:ext cx="4419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pinMode(led, OUTPUT)</a:t>
            </a:r>
            <a:endParaRPr lang="en-US" sz="1200" dirty="0"/>
          </a:p>
        </p:txBody>
      </p:sp>
      <p:sp>
        <p:nvSpPr>
          <p:cNvPr id="14" name="Text 12"/>
          <p:cNvSpPr txBox="1"/>
          <p:nvPr/>
        </p:nvSpPr>
        <p:spPr>
          <a:xfrm>
            <a:off x="6959600" y="2946400"/>
            <a:ext cx="4419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La broche devient une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sortie</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 l'Arduino y envoie du courant.</a:t>
            </a:r>
            <a:endParaRPr lang="en-US" sz="1200" dirty="0"/>
          </a:p>
        </p:txBody>
      </p:sp>
      <p:sp>
        <p:nvSpPr>
          <p:cNvPr id="15" name="Shape 13"/>
          <p:cNvSpPr/>
          <p:nvPr/>
        </p:nvSpPr>
        <p:spPr>
          <a:xfrm>
            <a:off x="6527800" y="3505200"/>
            <a:ext cx="304800" cy="304800"/>
          </a:xfrm>
          <a:prstGeom prst="ellipse">
            <a:avLst/>
          </a:prstGeom>
          <a:solidFill>
            <a:srgbClr val="086A70"/>
          </a:solidFill>
          <a:ln/>
        </p:spPr>
      </p:sp>
      <p:sp>
        <p:nvSpPr>
          <p:cNvPr id="16" name="Text 14"/>
          <p:cNvSpPr txBox="1"/>
          <p:nvPr/>
        </p:nvSpPr>
        <p:spPr>
          <a:xfrm>
            <a:off x="6527800" y="3505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959600" y="3530600"/>
            <a:ext cx="4419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digitalWrite(led, HIGH / LOW)</a:t>
            </a:r>
            <a:endParaRPr lang="en-US" sz="1200" dirty="0"/>
          </a:p>
        </p:txBody>
      </p:sp>
      <p:sp>
        <p:nvSpPr>
          <p:cNvPr id="18" name="Text 16"/>
          <p:cNvSpPr txBox="1"/>
          <p:nvPr/>
        </p:nvSpPr>
        <p:spPr>
          <a:xfrm>
            <a:off x="6959600" y="3771900"/>
            <a:ext cx="4419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HIGH = 5 V = allumée. LOW = 0 V = éteinte. (1 et 0 marchent aussi.)</a:t>
            </a:r>
            <a:endParaRPr lang="en-US" sz="1200" dirty="0"/>
          </a:p>
        </p:txBody>
      </p:sp>
      <p:sp>
        <p:nvSpPr>
          <p:cNvPr id="19" name="Shape 17"/>
          <p:cNvSpPr/>
          <p:nvPr/>
        </p:nvSpPr>
        <p:spPr>
          <a:xfrm>
            <a:off x="6527800" y="4330700"/>
            <a:ext cx="304800" cy="304800"/>
          </a:xfrm>
          <a:prstGeom prst="ellipse">
            <a:avLst/>
          </a:prstGeom>
          <a:solidFill>
            <a:srgbClr val="086A70"/>
          </a:solidFill>
          <a:ln/>
        </p:spPr>
      </p:sp>
      <p:sp>
        <p:nvSpPr>
          <p:cNvPr id="20" name="Text 18"/>
          <p:cNvSpPr txBox="1"/>
          <p:nvPr/>
        </p:nvSpPr>
        <p:spPr>
          <a:xfrm>
            <a:off x="6527800" y="4330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959600" y="4356100"/>
            <a:ext cx="4419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delay(100)</a:t>
            </a:r>
            <a:endParaRPr lang="en-US" sz="1200" dirty="0"/>
          </a:p>
        </p:txBody>
      </p:sp>
      <p:sp>
        <p:nvSpPr>
          <p:cNvPr id="22" name="Text 20"/>
          <p:cNvSpPr txBox="1"/>
          <p:nvPr/>
        </p:nvSpPr>
        <p:spPr>
          <a:xfrm>
            <a:off x="6959600" y="4597400"/>
            <a:ext cx="4419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Attendre 100 ms. 100 allumée + 100 éteinte =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5 clignotements par seconde</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11</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1 · MYFIRSTLED</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Mieux câblé : passer par la ligne −</a:t>
            </a:r>
            <a:endParaRPr lang="en-US" sz="3200" dirty="0"/>
          </a:p>
        </p:txBody>
      </p:sp>
      <p:pic>
        <p:nvPicPr>
          <p:cNvPr id="5" name="Image 0" descr="Nouveau câblage : GND sur la ligne − puis un pont vers la LED">    </p:cNvPr>
          <p:cNvPicPr>
            <a:picLocks noChangeAspect="1"/>
          </p:cNvPicPr>
          <p:nvPr/>
        </p:nvPicPr>
        <p:blipFill>
          <a:blip r:embed="rId1"/>
          <a:stretch>
            <a:fillRect/>
          </a:stretch>
        </p:blipFill>
        <p:spPr>
          <a:xfrm>
            <a:off x="812800" y="1854200"/>
            <a:ext cx="2794000" cy="3556000"/>
          </a:xfrm>
          <a:prstGeom prst="rect">
            <a:avLst/>
          </a:prstGeom>
        </p:spPr>
      </p:pic>
      <p:sp>
        <p:nvSpPr>
          <p:cNvPr id="6" name="Text 3"/>
          <p:cNvSpPr txBox="1"/>
          <p:nvPr/>
        </p:nvSpPr>
        <p:spPr>
          <a:xfrm>
            <a:off x="812800" y="5486400"/>
            <a:ext cx="2794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Ma version « optimisée »</a:t>
            </a:r>
            <a:endParaRPr lang="en-US" sz="1200" dirty="0"/>
          </a:p>
        </p:txBody>
      </p:sp>
      <p:sp>
        <p:nvSpPr>
          <p:cNvPr id="7" name="Text 4"/>
          <p:cNvSpPr txBox="1"/>
          <p:nvPr/>
        </p:nvSpPr>
        <p:spPr>
          <a:xfrm>
            <a:off x="3911600" y="1854200"/>
            <a:ext cx="7467600" cy="889000"/>
          </a:xfrm>
          <a:prstGeom prst="rect">
            <a:avLst/>
          </a:prstGeom>
          <a:noFill/>
          <a:ln/>
        </p:spPr>
        <p:txBody>
          <a:bodyPr wrap="square" lIns="0" tIns="0" rIns="0" bIns="0" rtlCol="0" anchor="t"/>
          <a:lstStyle/>
          <a:p>
            <a:pPr algn="l" indent="0" marL="0">
              <a:lnSpc>
                <a:spcPct val="105000"/>
              </a:lnSpc>
              <a:buNone/>
            </a:pPr>
            <a:r>
              <a:rPr lang="en-US" sz="1558" i="1" dirty="0">
                <a:solidFill>
                  <a:srgbClr val="9A4712"/>
                </a:solidFill>
                <a:latin typeface="Calibri" pitchFamily="34" charset="0"/>
                <a:ea typeface="Calibri" pitchFamily="34" charset="-122"/>
                <a:cs typeface="Calibri" pitchFamily="34" charset="-120"/>
              </a:rPr>
              <a:t>« Plusieurs LED : mettre GND sur le − et ensuite faire un genre de pont… avec un câble. Puis mettre la LED en cathode sur la même rangée et le + avec une résistance. »</a:t>
            </a:r>
            <a:endParaRPr lang="en-US" sz="1558" dirty="0"/>
          </a:p>
        </p:txBody>
      </p:sp>
      <p:sp>
        <p:nvSpPr>
          <p:cNvPr id="8" name="Shape 5"/>
          <p:cNvSpPr/>
          <p:nvPr/>
        </p:nvSpPr>
        <p:spPr>
          <a:xfrm>
            <a:off x="3911600" y="2857500"/>
            <a:ext cx="304800" cy="304800"/>
          </a:xfrm>
          <a:prstGeom prst="ellipse">
            <a:avLst/>
          </a:prstGeom>
          <a:solidFill>
            <a:srgbClr val="086A70"/>
          </a:solidFill>
          <a:ln/>
        </p:spPr>
      </p:sp>
      <p:sp>
        <p:nvSpPr>
          <p:cNvPr id="9" name="Text 6"/>
          <p:cNvSpPr txBox="1"/>
          <p:nvPr/>
        </p:nvSpPr>
        <p:spPr>
          <a:xfrm>
            <a:off x="3911600" y="28575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4343400" y="2882900"/>
            <a:ext cx="7035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Câble vert</a:t>
            </a:r>
            <a:endParaRPr lang="en-US" sz="1200" dirty="0"/>
          </a:p>
        </p:txBody>
      </p:sp>
      <p:sp>
        <p:nvSpPr>
          <p:cNvPr id="11" name="Text 8"/>
          <p:cNvSpPr txBox="1"/>
          <p:nvPr/>
        </p:nvSpPr>
        <p:spPr>
          <a:xfrm>
            <a:off x="4343400" y="3124200"/>
            <a:ext cx="7035800" cy="304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GND de l'Arduino → ligne − de la breadboard.</a:t>
            </a:r>
            <a:endParaRPr lang="en-US" sz="1200" dirty="0"/>
          </a:p>
        </p:txBody>
      </p:sp>
      <p:sp>
        <p:nvSpPr>
          <p:cNvPr id="12" name="Shape 9"/>
          <p:cNvSpPr/>
          <p:nvPr/>
        </p:nvSpPr>
        <p:spPr>
          <a:xfrm>
            <a:off x="3911600" y="3492500"/>
            <a:ext cx="304800" cy="304800"/>
          </a:xfrm>
          <a:prstGeom prst="ellipse">
            <a:avLst/>
          </a:prstGeom>
          <a:solidFill>
            <a:srgbClr val="086A70"/>
          </a:solidFill>
          <a:ln/>
        </p:spPr>
      </p:sp>
      <p:sp>
        <p:nvSpPr>
          <p:cNvPr id="13" name="Text 10"/>
          <p:cNvSpPr txBox="1"/>
          <p:nvPr/>
        </p:nvSpPr>
        <p:spPr>
          <a:xfrm>
            <a:off x="3911600" y="34925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4343400" y="3517900"/>
            <a:ext cx="7035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Câble noir (le « pont »)</a:t>
            </a:r>
            <a:endParaRPr lang="en-US" sz="1200" dirty="0"/>
          </a:p>
        </p:txBody>
      </p:sp>
      <p:sp>
        <p:nvSpPr>
          <p:cNvPr id="15" name="Text 12"/>
          <p:cNvSpPr txBox="1"/>
          <p:nvPr/>
        </p:nvSpPr>
        <p:spPr>
          <a:xfrm>
            <a:off x="4343400" y="3759200"/>
            <a:ext cx="7035800" cy="304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Ligne − → rangée de la cathode (−) de la LED.</a:t>
            </a:r>
            <a:endParaRPr lang="en-US" sz="1200" dirty="0"/>
          </a:p>
        </p:txBody>
      </p:sp>
      <p:sp>
        <p:nvSpPr>
          <p:cNvPr id="16" name="Shape 13"/>
          <p:cNvSpPr/>
          <p:nvPr/>
        </p:nvSpPr>
        <p:spPr>
          <a:xfrm>
            <a:off x="3911600" y="4127500"/>
            <a:ext cx="304800" cy="304800"/>
          </a:xfrm>
          <a:prstGeom prst="ellipse">
            <a:avLst/>
          </a:prstGeom>
          <a:solidFill>
            <a:srgbClr val="086A70"/>
          </a:solidFill>
          <a:ln/>
        </p:spPr>
      </p:sp>
      <p:sp>
        <p:nvSpPr>
          <p:cNvPr id="17" name="Text 14"/>
          <p:cNvSpPr txBox="1"/>
          <p:nvPr/>
        </p:nvSpPr>
        <p:spPr>
          <a:xfrm>
            <a:off x="3911600" y="41275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4343400" y="4152900"/>
            <a:ext cx="70358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Résistance + câble jaune</a:t>
            </a:r>
            <a:endParaRPr lang="en-US" sz="1200" dirty="0"/>
          </a:p>
        </p:txBody>
      </p:sp>
      <p:sp>
        <p:nvSpPr>
          <p:cNvPr id="19" name="Text 16"/>
          <p:cNvSpPr txBox="1"/>
          <p:nvPr/>
        </p:nvSpPr>
        <p:spPr>
          <a:xfrm>
            <a:off x="4343400" y="4394200"/>
            <a:ext cx="7035800" cy="304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Anode (+) → résistance → broche 13.</a:t>
            </a:r>
            <a:endParaRPr lang="en-US" sz="1200" dirty="0"/>
          </a:p>
        </p:txBody>
      </p:sp>
      <p:sp>
        <p:nvSpPr>
          <p:cNvPr id="20" name="Text 17"/>
          <p:cNvSpPr txBox="1"/>
          <p:nvPr/>
        </p:nvSpPr>
        <p:spPr>
          <a:xfrm>
            <a:off x="3911600" y="4889500"/>
            <a:ext cx="7467600" cy="571500"/>
          </a:xfrm>
          <a:prstGeom prst="rect">
            <a:avLst/>
          </a:prstGeom>
          <a:noFill/>
          <a:ln/>
        </p:spPr>
        <p:txBody>
          <a:bodyPr wrap="square" lIns="0" tIns="0" rIns="0" bIns="0" rtlCol="0" anchor="t"/>
          <a:lstStyle/>
          <a:p>
            <a:pPr algn="l" indent="0" marL="0">
              <a:lnSpc>
                <a:spcPct val="120000"/>
              </a:lnSpc>
              <a:buNone/>
            </a:pPr>
            <a:r>
              <a:rPr lang="en-US" sz="1400" b="1" dirty="0">
                <a:solidFill>
                  <a:srgbClr val="3E4A52"/>
                </a:solidFill>
                <a:latin typeface="Calibri" pitchFamily="34" charset="0"/>
                <a:ea typeface="Calibri" pitchFamily="34" charset="-122"/>
                <a:cs typeface="Calibri" pitchFamily="34" charset="-120"/>
              </a:rPr>
              <a:t>Pourquoi ?</a:t>
            </a:r>
            <a:pPr algn="l" indent="0" marL="0">
              <a:lnSpc>
                <a:spcPct val="120000"/>
              </a:lnSpc>
              <a:buNone/>
            </a:pPr>
            <a:r>
              <a:rPr lang="en-US" sz="1400" dirty="0">
                <a:solidFill>
                  <a:srgbClr val="3E4A52"/>
                </a:solidFill>
                <a:latin typeface="Calibri" pitchFamily="34" charset="0"/>
                <a:ea typeface="Calibri" pitchFamily="34" charset="-122"/>
                <a:cs typeface="Calibri" pitchFamily="34" charset="-120"/>
              </a:rPr>
              <a:t> Toutes les LED suivantes peuvent se brancher sur la même ligne − : un seul fil GND pour tout le monde.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52D"/>
        </a:solidFill>
      </p:bgPr>
    </p:bg>
    <p:spTree>
      <p:nvGrpSpPr>
        <p:cNvPr id="1" name=""/>
        <p:cNvGrpSpPr/>
        <p:nvPr/>
      </p:nvGrpSpPr>
      <p:grpSpPr>
        <a:xfrm>
          <a:off x="0" y="0"/>
          <a:ext cx="0" cy="0"/>
          <a:chOff x="0" y="0"/>
          <a:chExt cx="0" cy="0"/>
        </a:xfrm>
      </p:grpSpPr>
      <p:pic>
        <p:nvPicPr>
          <p:cNvPr id="2" name="Image 0" descr="Mon doigt appuie sur le bouton jaune, la LED verte s'allume">    </p:cNvPr>
          <p:cNvPicPr>
            <a:picLocks noChangeAspect="1"/>
          </p:cNvPicPr>
          <p:nvPr/>
        </p:nvPicPr>
        <p:blipFill>
          <a:blip r:embed="rId1"/>
          <a:stretch>
            <a:fillRect/>
          </a:stretch>
        </p:blipFill>
        <p:spPr>
          <a:xfrm>
            <a:off x="7366000" y="0"/>
            <a:ext cx="4826000" cy="6858000"/>
          </a:xfrm>
          <a:prstGeom prst="rect">
            <a:avLst/>
          </a:prstGeom>
        </p:spPr>
      </p:pic>
      <p:sp>
        <p:nvSpPr>
          <p:cNvPr id="3" name="Text 0"/>
          <p:cNvSpPr txBox="1"/>
          <p:nvPr/>
        </p:nvSpPr>
        <p:spPr>
          <a:xfrm>
            <a:off x="812800" y="1587500"/>
            <a:ext cx="5715000" cy="1143000"/>
          </a:xfrm>
          <a:prstGeom prst="rect">
            <a:avLst/>
          </a:prstGeom>
          <a:noFill/>
          <a:ln/>
        </p:spPr>
        <p:txBody>
          <a:bodyPr wrap="square" lIns="0" tIns="0" rIns="0" bIns="0" rtlCol="0" anchor="t"/>
          <a:lstStyle/>
          <a:p>
            <a:pPr algn="l" indent="0" marL="0">
              <a:lnSpc>
                <a:spcPct val="90000"/>
              </a:lnSpc>
              <a:buNone/>
            </a:pPr>
            <a:r>
              <a:rPr lang="en-US" sz="9000" b="1" dirty="0">
                <a:solidFill>
                  <a:srgbClr val="E8833A"/>
                </a:solidFill>
                <a:latin typeface="Calibri" pitchFamily="34" charset="0"/>
                <a:ea typeface="Calibri" pitchFamily="34" charset="-122"/>
                <a:cs typeface="Calibri" pitchFamily="34" charset="-120"/>
              </a:rPr>
              <a:t>02</a:t>
            </a:r>
            <a:endParaRPr lang="en-US" sz="9000" dirty="0"/>
          </a:p>
        </p:txBody>
      </p:sp>
      <p:sp>
        <p:nvSpPr>
          <p:cNvPr id="4" name="Text 1"/>
          <p:cNvSpPr txBox="1"/>
          <p:nvPr/>
        </p:nvSpPr>
        <p:spPr>
          <a:xfrm>
            <a:off x="812800" y="2857500"/>
            <a:ext cx="57150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PROJET 2</a:t>
            </a:r>
            <a:endParaRPr lang="en-US" sz="1200" dirty="0"/>
          </a:p>
        </p:txBody>
      </p:sp>
      <p:sp>
        <p:nvSpPr>
          <p:cNvPr id="5" name="Text 2"/>
          <p:cNvSpPr txBox="1"/>
          <p:nvPr/>
        </p:nvSpPr>
        <p:spPr>
          <a:xfrm>
            <a:off x="812800" y="3175000"/>
            <a:ext cx="6350000" cy="571500"/>
          </a:xfrm>
          <a:prstGeom prst="rect">
            <a:avLst/>
          </a:prstGeom>
          <a:noFill/>
          <a:ln/>
        </p:spPr>
        <p:txBody>
          <a:bodyPr wrap="square" lIns="0" tIns="0" rIns="0" bIns="0" rtlCol="0" anchor="t"/>
          <a:lstStyle/>
          <a:p>
            <a:pPr algn="l" indent="0" marL="0">
              <a:lnSpc>
                <a:spcPct val="110000"/>
              </a:lnSpc>
              <a:buNone/>
            </a:pPr>
            <a:r>
              <a:rPr lang="en-US" sz="3600" b="1" dirty="0">
                <a:solidFill>
                  <a:srgbClr val="F5F1E8"/>
                </a:solidFill>
                <a:latin typeface="Calibri" pitchFamily="34" charset="0"/>
                <a:ea typeface="Calibri" pitchFamily="34" charset="-122"/>
                <a:cs typeface="Calibri" pitchFamily="34" charset="-120"/>
              </a:rPr>
              <a:t>MyFirstLedWithButton</a:t>
            </a:r>
            <a:endParaRPr lang="en-US" sz="3600" dirty="0"/>
          </a:p>
        </p:txBody>
      </p:sp>
      <p:sp>
        <p:nvSpPr>
          <p:cNvPr id="6" name="Text 3"/>
          <p:cNvSpPr txBox="1"/>
          <p:nvPr/>
        </p:nvSpPr>
        <p:spPr>
          <a:xfrm>
            <a:off x="812800" y="3873500"/>
            <a:ext cx="6223000" cy="635000"/>
          </a:xfrm>
          <a:prstGeom prst="rect">
            <a:avLst/>
          </a:prstGeom>
          <a:noFill/>
          <a:ln/>
        </p:spPr>
        <p:txBody>
          <a:bodyPr wrap="square" lIns="0" tIns="0" rIns="0" bIns="0" rtlCol="0" anchor="t"/>
          <a:lstStyle/>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Allumer la LED seulement quand j'appuie sur le bouton.</a:t>
            </a:r>
            <a:endParaRPr lang="en-US" sz="1600" dirty="0"/>
          </a:p>
        </p:txBody>
      </p:sp>
      <p:sp>
        <p:nvSpPr>
          <p:cNvPr id="7" name="Text 4"/>
          <p:cNvSpPr txBox="1"/>
          <p:nvPr/>
        </p:nvSpPr>
        <p:spPr>
          <a:xfrm>
            <a:off x="812800" y="4635500"/>
            <a:ext cx="6223000" cy="762000"/>
          </a:xfrm>
          <a:prstGeom prst="rect">
            <a:avLst/>
          </a:prstGeom>
          <a:noFill/>
          <a:ln/>
        </p:spPr>
        <p:txBody>
          <a:bodyPr wrap="square" lIns="0" tIns="0" rIns="0" bIns="0" rtlCol="0" anchor="t"/>
          <a:lstStyle/>
          <a:p>
            <a:pPr algn="l" indent="0" marL="0">
              <a:lnSpc>
                <a:spcPct val="105000"/>
              </a:lnSpc>
              <a:buNone/>
            </a:pPr>
            <a:r>
              <a:rPr lang="en-US" sz="1968" i="1" dirty="0">
                <a:solidFill>
                  <a:srgbClr val="F2A765"/>
                </a:solidFill>
                <a:latin typeface="Calibri" pitchFamily="34" charset="0"/>
                <a:ea typeface="Calibri" pitchFamily="34" charset="-122"/>
                <a:cs typeface="Calibri" pitchFamily="34" charset="-120"/>
              </a:rPr>
              <a:t>« ça maintient la broche à l'état HIGH par défaut »</a:t>
            </a:r>
            <a:endParaRPr lang="en-US" sz="1968"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13</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2 · MYFIRSTLEDWITHBUTTON</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montage : la LED + un bouton</a:t>
            </a:r>
            <a:endParaRPr lang="en-US" sz="3200" dirty="0"/>
          </a:p>
        </p:txBody>
      </p:sp>
      <p:sp>
        <p:nvSpPr>
          <p:cNvPr id="5" name="Shape 3"/>
          <p:cNvSpPr/>
          <p:nvPr/>
        </p:nvSpPr>
        <p:spPr>
          <a:xfrm>
            <a:off x="812800" y="1854200"/>
            <a:ext cx="4572000" cy="2540000"/>
          </a:xfrm>
          <a:prstGeom prst="roundRect">
            <a:avLst>
              <a:gd name="adj" fmla="val 4000"/>
            </a:avLst>
          </a:prstGeom>
          <a:solidFill>
            <a:srgbClr val="FFFFFF"/>
          </a:solidFill>
          <a:ln w="9525">
            <a:solidFill>
              <a:srgbClr val="DDD5C4"/>
            </a:solidFill>
            <a:prstDash val="solid"/>
          </a:ln>
        </p:spPr>
      </p:sp>
      <p:pic>
        <p:nvPicPr>
          <p:cNvPr id="6" name="Image 0" descr="Schéma du montage avec bouton">    </p:cNvPr>
          <p:cNvPicPr>
            <a:picLocks noChangeAspect="1"/>
          </p:cNvPicPr>
          <p:nvPr/>
        </p:nvPicPr>
        <p:blipFill>
          <a:blip r:embed="rId1"/>
          <a:stretch>
            <a:fillRect/>
          </a:stretch>
        </p:blipFill>
        <p:spPr>
          <a:xfrm>
            <a:off x="976489" y="1930400"/>
            <a:ext cx="4244622" cy="2387600"/>
          </a:xfrm>
          <a:prstGeom prst="rect">
            <a:avLst/>
          </a:prstGeom>
        </p:spPr>
      </p:pic>
      <p:sp>
        <p:nvSpPr>
          <p:cNvPr id="7" name="Text 4"/>
          <p:cNvSpPr txBox="1"/>
          <p:nvPr/>
        </p:nvSpPr>
        <p:spPr>
          <a:xfrm>
            <a:off x="812800" y="4470400"/>
            <a:ext cx="4572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Le schéma</a:t>
            </a:r>
            <a:endParaRPr lang="en-US" sz="1200" dirty="0"/>
          </a:p>
        </p:txBody>
      </p:sp>
      <p:sp>
        <p:nvSpPr>
          <p:cNvPr id="8" name="Text 5"/>
          <p:cNvSpPr txBox="1"/>
          <p:nvPr/>
        </p:nvSpPr>
        <p:spPr>
          <a:xfrm>
            <a:off x="812800" y="4762500"/>
            <a:ext cx="4572000" cy="825500"/>
          </a:xfrm>
          <a:prstGeom prst="rect">
            <a:avLst/>
          </a:prstGeom>
          <a:noFill/>
          <a:ln/>
        </p:spPr>
        <p:txBody>
          <a:bodyPr wrap="square" lIns="0" tIns="0" rIns="0" bIns="0" rtlCol="0" anchor="t"/>
          <a:lstStyle/>
          <a:p>
            <a:pPr algn="l" indent="0" marL="0">
              <a:lnSpc>
                <a:spcPct val="120000"/>
              </a:lnSpc>
              <a:buNone/>
            </a:pPr>
            <a:r>
              <a:rPr lang="en-US" sz="1300" b="1" dirty="0">
                <a:solidFill>
                  <a:srgbClr val="3E4A52"/>
                </a:solidFill>
                <a:latin typeface="Calibri" pitchFamily="34" charset="0"/>
                <a:ea typeface="Calibri" pitchFamily="34" charset="-122"/>
                <a:cs typeface="Calibri" pitchFamily="34" charset="-120"/>
              </a:rPr>
              <a:t>LED</a:t>
            </a:r>
            <a:pPr algn="l" indent="0" marL="0">
              <a:lnSpc>
                <a:spcPct val="120000"/>
              </a:lnSpc>
              <a:buNone/>
            </a:pPr>
            <a:r>
              <a:rPr lang="en-US" sz="1300" dirty="0">
                <a:solidFill>
                  <a:srgbClr val="3E4A52"/>
                </a:solidFill>
                <a:latin typeface="Calibri" pitchFamily="34" charset="0"/>
                <a:ea typeface="Calibri" pitchFamily="34" charset="-122"/>
                <a:cs typeface="Calibri" pitchFamily="34" charset="-120"/>
              </a:rPr>
              <a:t> : comme au projet 1, sur la broche 13.</a:t>
            </a:r>
            <a:endParaRPr lang="en-US" sz="1300" dirty="0"/>
          </a:p>
          <a:p>
            <a:pPr algn="l" indent="0" marL="0">
              <a:lnSpc>
                <a:spcPct val="120000"/>
              </a:lnSpc>
              <a:buNone/>
            </a:pPr>
            <a:r>
              <a:rPr lang="en-US" sz="1300" b="1" dirty="0">
                <a:solidFill>
                  <a:srgbClr val="3E4A52"/>
                </a:solidFill>
                <a:latin typeface="Calibri" pitchFamily="34" charset="0"/>
                <a:ea typeface="Calibri" pitchFamily="34" charset="-122"/>
                <a:cs typeface="Calibri" pitchFamily="34" charset="-120"/>
              </a:rPr>
              <a:t>Bouton</a:t>
            </a:r>
            <a:pPr algn="l" indent="0" marL="0">
              <a:lnSpc>
                <a:spcPct val="120000"/>
              </a:lnSpc>
              <a:buNone/>
            </a:pPr>
            <a:r>
              <a:rPr lang="en-US" sz="1300" dirty="0">
                <a:solidFill>
                  <a:srgbClr val="3E4A52"/>
                </a:solidFill>
                <a:latin typeface="Calibri" pitchFamily="34" charset="0"/>
                <a:ea typeface="Calibri" pitchFamily="34" charset="-122"/>
                <a:cs typeface="Calibri" pitchFamily="34" charset="-120"/>
              </a:rPr>
              <a:t> : à cheval sur la rainure. Un côté → </a:t>
            </a:r>
            <a:pPr algn="l" indent="0" marL="0">
              <a:lnSpc>
                <a:spcPct val="120000"/>
              </a:lnSpc>
              <a:buNone/>
            </a:pPr>
            <a:r>
              <a:rPr lang="en-US" sz="1300" b="1" dirty="0">
                <a:solidFill>
                  <a:srgbClr val="3E4A52"/>
                </a:solidFill>
                <a:latin typeface="Calibri" pitchFamily="34" charset="0"/>
                <a:ea typeface="Calibri" pitchFamily="34" charset="-122"/>
                <a:cs typeface="Calibri" pitchFamily="34" charset="-120"/>
              </a:rPr>
              <a:t>broche 2</a:t>
            </a:r>
            <a:pPr algn="l" indent="0" marL="0">
              <a:lnSpc>
                <a:spcPct val="120000"/>
              </a:lnSpc>
              <a:buNone/>
            </a:pPr>
            <a:r>
              <a:rPr lang="en-US" sz="1300" dirty="0">
                <a:solidFill>
                  <a:srgbClr val="3E4A52"/>
                </a:solidFill>
                <a:latin typeface="Calibri" pitchFamily="34" charset="0"/>
                <a:ea typeface="Calibri" pitchFamily="34" charset="-122"/>
                <a:cs typeface="Calibri" pitchFamily="34" charset="-120"/>
              </a:rPr>
              <a:t> (câble vert), l'autre côté → </a:t>
            </a:r>
            <a:pPr algn="l" indent="0" marL="0">
              <a:lnSpc>
                <a:spcPct val="120000"/>
              </a:lnSpc>
              <a:buNone/>
            </a:pPr>
            <a:r>
              <a:rPr lang="en-US" sz="1300" b="1" dirty="0">
                <a:solidFill>
                  <a:srgbClr val="3E4A52"/>
                </a:solidFill>
                <a:latin typeface="Calibri" pitchFamily="34" charset="0"/>
                <a:ea typeface="Calibri" pitchFamily="34" charset="-122"/>
                <a:cs typeface="Calibri" pitchFamily="34" charset="-120"/>
              </a:rPr>
              <a:t>GND</a:t>
            </a:r>
            <a:pPr algn="l" indent="0" marL="0">
              <a:lnSpc>
                <a:spcPct val="120000"/>
              </a:lnSpc>
              <a:buNone/>
            </a:pPr>
            <a:r>
              <a:rPr lang="en-US" sz="1300" dirty="0">
                <a:solidFill>
                  <a:srgbClr val="3E4A52"/>
                </a:solidFill>
                <a:latin typeface="Calibri" pitchFamily="34" charset="0"/>
                <a:ea typeface="Calibri" pitchFamily="34" charset="-122"/>
                <a:cs typeface="Calibri" pitchFamily="34" charset="-120"/>
              </a:rPr>
              <a:t>.</a:t>
            </a:r>
            <a:endParaRPr lang="en-US" sz="1300" dirty="0"/>
          </a:p>
        </p:txBody>
      </p:sp>
      <p:pic>
        <p:nvPicPr>
          <p:cNvPr id="9" name="Image 1" descr="Bouton relâché, LED éteinte">    </p:cNvPr>
          <p:cNvPicPr>
            <a:picLocks noChangeAspect="1"/>
          </p:cNvPicPr>
          <p:nvPr/>
        </p:nvPicPr>
        <p:blipFill>
          <a:blip r:embed="rId2"/>
          <a:stretch>
            <a:fillRect/>
          </a:stretch>
        </p:blipFill>
        <p:spPr>
          <a:xfrm>
            <a:off x="5638800" y="1854200"/>
            <a:ext cx="2730500" cy="3556000"/>
          </a:xfrm>
          <a:prstGeom prst="rect">
            <a:avLst/>
          </a:prstGeom>
        </p:spPr>
      </p:pic>
      <p:sp>
        <p:nvSpPr>
          <p:cNvPr id="10" name="Text 6"/>
          <p:cNvSpPr txBox="1"/>
          <p:nvPr/>
        </p:nvSpPr>
        <p:spPr>
          <a:xfrm>
            <a:off x="5638800" y="5486400"/>
            <a:ext cx="27305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Relâché → LED éteinte</a:t>
            </a:r>
            <a:endParaRPr lang="en-US" sz="1200" dirty="0"/>
          </a:p>
        </p:txBody>
      </p:sp>
      <p:pic>
        <p:nvPicPr>
          <p:cNvPr id="11" name="Image 2" descr="Bouton appuyé, LED allumée">    </p:cNvPr>
          <p:cNvPicPr>
            <a:picLocks noChangeAspect="1"/>
          </p:cNvPicPr>
          <p:nvPr/>
        </p:nvPicPr>
        <p:blipFill>
          <a:blip r:embed="rId3"/>
          <a:stretch>
            <a:fillRect/>
          </a:stretch>
        </p:blipFill>
        <p:spPr>
          <a:xfrm>
            <a:off x="8623300" y="1854200"/>
            <a:ext cx="2730500" cy="3556000"/>
          </a:xfrm>
          <a:prstGeom prst="rect">
            <a:avLst/>
          </a:prstGeom>
        </p:spPr>
      </p:pic>
      <p:sp>
        <p:nvSpPr>
          <p:cNvPr id="12" name="Text 7"/>
          <p:cNvSpPr txBox="1"/>
          <p:nvPr/>
        </p:nvSpPr>
        <p:spPr>
          <a:xfrm>
            <a:off x="8623300" y="5486400"/>
            <a:ext cx="27305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Appuyé → LED allumée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14</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2 · MYFIRSTLEDWITHBUTTON</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INPUT_PULLUP : le bouton « à l'envers »</a:t>
            </a:r>
            <a:endParaRPr lang="en-US" sz="3200" dirty="0"/>
          </a:p>
        </p:txBody>
      </p:sp>
      <p:sp>
        <p:nvSpPr>
          <p:cNvPr id="5" name="Text 3"/>
          <p:cNvSpPr txBox="1"/>
          <p:nvPr/>
        </p:nvSpPr>
        <p:spPr>
          <a:xfrm>
            <a:off x="812800" y="1854200"/>
            <a:ext cx="10566400" cy="635000"/>
          </a:xfrm>
          <a:prstGeom prst="rect">
            <a:avLst/>
          </a:prstGeom>
          <a:noFill/>
          <a:ln/>
        </p:spPr>
        <p:txBody>
          <a:bodyPr wrap="square" lIns="0" tIns="0" rIns="0" bIns="0" rtlCol="0" anchor="t"/>
          <a:lstStyle/>
          <a:p>
            <a:pPr algn="l" indent="0" marL="0">
              <a:lnSpc>
                <a:spcPct val="105000"/>
              </a:lnSpc>
              <a:buNone/>
            </a:pPr>
            <a:r>
              <a:rPr lang="en-US" sz="1640" i="1" dirty="0">
                <a:solidFill>
                  <a:srgbClr val="9A4712"/>
                </a:solidFill>
                <a:latin typeface="Calibri" pitchFamily="34" charset="0"/>
                <a:ea typeface="Calibri" pitchFamily="34" charset="-122"/>
                <a:cs typeface="Calibri" pitchFamily="34" charset="-120"/>
              </a:rPr>
              <a:t>« ça maintient la broche à l'état (HIGH) par défaut + on connecte le bouton entre la broche et la masse (GND) »</a:t>
            </a:r>
            <a:endParaRPr lang="en-US" sz="164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12800" y="2603500"/>
          <a:ext cx="10566400" cy="914400"/>
        </p:xfrm>
        <a:graphic>
          <a:graphicData uri="http://schemas.openxmlformats.org/drawingml/2006/table">
            <a:tbl>
              <a:tblPr/>
              <a:tblGrid>
                <a:gridCol w="1690624"/>
                <a:gridCol w="4226560"/>
                <a:gridCol w="2324608"/>
                <a:gridCol w="2324608"/>
              </a:tblGrid>
              <a:tr h="0">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Bouton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La broche 2 est reliée à…</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digitalRead(2) donne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Donc la LED…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Relâché</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rien → la résistance interne la tire vers 5 V</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HIGH</a:t>
                      </a:r>
                      <a:pPr indent="0" marL="0">
                        <a:buNone/>
                      </a:pPr>
                      <a:r>
                        <a:rPr lang="en-US" sz="1400" dirty="0">
                          <a:solidFill>
                            <a:srgbClr val="3E4A52"/>
                          </a:solidFill>
                          <a:latin typeface="Calibri" pitchFamily="34" charset="0"/>
                          <a:ea typeface="Calibri" pitchFamily="34" charset="-122"/>
                          <a:cs typeface="Calibri" pitchFamily="34" charset="-120"/>
                        </a:rPr>
                        <a:t> (1)</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s'éteint (LOW)</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Appuyé</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GND, à travers le bouton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b="1" dirty="0">
                          <a:solidFill>
                            <a:srgbClr val="3E4A52"/>
                          </a:solidFill>
                          <a:latin typeface="Calibri" pitchFamily="34" charset="0"/>
                          <a:ea typeface="Calibri" pitchFamily="34" charset="-122"/>
                          <a:cs typeface="Calibri" pitchFamily="34" charset="-120"/>
                        </a:rPr>
                        <a:t>LOW</a:t>
                      </a:r>
                      <a:pPr indent="0" marL="0">
                        <a:buNone/>
                      </a:pPr>
                      <a:r>
                        <a:rPr lang="en-US" sz="1400" dirty="0">
                          <a:solidFill>
                            <a:srgbClr val="3E4A52"/>
                          </a:solidFill>
                          <a:latin typeface="Calibri" pitchFamily="34" charset="0"/>
                          <a:ea typeface="Calibri" pitchFamily="34" charset="-122"/>
                          <a:cs typeface="Calibri" pitchFamily="34" charset="-120"/>
                        </a:rPr>
                        <a:t> (0)</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400" dirty="0">
                          <a:solidFill>
                            <a:srgbClr val="3E4A52"/>
                          </a:solidFill>
                          <a:latin typeface="Calibri" pitchFamily="34" charset="0"/>
                          <a:ea typeface="Calibri" pitchFamily="34" charset="-122"/>
                          <a:cs typeface="Calibri" pitchFamily="34" charset="-120"/>
                        </a:rPr>
                        <a:t>s'allume (HIGH)</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bl>
          </a:graphicData>
        </a:graphic>
      </p:graphicFrame>
      <p:sp>
        <p:nvSpPr>
          <p:cNvPr id="7" name="Text 4"/>
          <p:cNvSpPr txBox="1"/>
          <p:nvPr/>
        </p:nvSpPr>
        <p:spPr>
          <a:xfrm>
            <a:off x="812800" y="4572000"/>
            <a:ext cx="10566400" cy="889000"/>
          </a:xfrm>
          <a:prstGeom prst="rect">
            <a:avLst/>
          </a:prstGeom>
          <a:noFill/>
          <a:ln/>
        </p:spPr>
        <p:txBody>
          <a:bodyPr wrap="square" lIns="0" tIns="0" rIns="0" bIns="0" rtlCol="0" anchor="t"/>
          <a:lstStyle/>
          <a:p>
            <a:pPr algn="l" indent="0" marL="0">
              <a:lnSpc>
                <a:spcPct val="125000"/>
              </a:lnSpc>
              <a:buNone/>
            </a:pPr>
            <a:r>
              <a:rPr lang="en-US" sz="1400" b="1" dirty="0">
                <a:solidFill>
                  <a:srgbClr val="3E4A52"/>
                </a:solidFill>
                <a:latin typeface="Calibri" pitchFamily="34" charset="0"/>
                <a:ea typeface="Calibri" pitchFamily="34" charset="-122"/>
                <a:cs typeface="Calibri" pitchFamily="34" charset="-120"/>
              </a:rPr>
              <a:t>À retenir</a:t>
            </a:r>
            <a:pPr algn="l" indent="0" marL="0">
              <a:lnSpc>
                <a:spcPct val="125000"/>
              </a:lnSpc>
              <a:buNone/>
            </a:pPr>
            <a:r>
              <a:rPr lang="en-US" sz="1400" dirty="0">
                <a:solidFill>
                  <a:srgbClr val="3E4A52"/>
                </a:solidFill>
                <a:latin typeface="Calibri" pitchFamily="34" charset="0"/>
                <a:ea typeface="Calibri" pitchFamily="34" charset="-122"/>
                <a:cs typeface="Calibri" pitchFamily="34" charset="-120"/>
              </a:rPr>
              <a:t> : avec INPUT_PULLUP, appuyer = LOW. C'est pour ça que mon </a:t>
            </a:r>
            <a:pPr algn="l" indent="0" marL="0">
              <a:lnSpc>
                <a:spcPct val="125000"/>
              </a:lnSpc>
              <a:buNone/>
            </a:pPr>
            <a:r>
              <a:rPr lang="en-US" sz="1400" i="1" dirty="0">
                <a:solidFill>
                  <a:srgbClr val="3E4A52"/>
                </a:solidFill>
                <a:latin typeface="Calibri" pitchFamily="34" charset="0"/>
                <a:ea typeface="Calibri" pitchFamily="34" charset="-122"/>
                <a:cs typeface="Calibri" pitchFamily="34" charset="-120"/>
              </a:rPr>
              <a:t>if</a:t>
            </a:r>
            <a:pPr algn="l" indent="0" marL="0">
              <a:lnSpc>
                <a:spcPct val="125000"/>
              </a:lnSpc>
              <a:buNone/>
            </a:pPr>
            <a:r>
              <a:rPr lang="en-US" sz="1400" dirty="0">
                <a:solidFill>
                  <a:srgbClr val="3E4A52"/>
                </a:solidFill>
                <a:latin typeface="Calibri" pitchFamily="34" charset="0"/>
                <a:ea typeface="Calibri" pitchFamily="34" charset="-122"/>
                <a:cs typeface="Calibri" pitchFamily="34" charset="-120"/>
              </a:rPr>
              <a:t> éteint la LED quand l'état est HIGH. L'Arduino a sa propre résistance cachée à l'intérieur : le bouton peut aller directement au GND.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15</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2 · MYFIRSTLEDWITHBUTTON</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code, ligne par ligne</a:t>
            </a:r>
            <a:endParaRPr lang="en-US" sz="3200" dirty="0"/>
          </a:p>
        </p:txBody>
      </p:sp>
      <p:sp>
        <p:nvSpPr>
          <p:cNvPr id="5" name="Shape 3"/>
          <p:cNvSpPr/>
          <p:nvPr/>
        </p:nvSpPr>
        <p:spPr>
          <a:xfrm>
            <a:off x="812800" y="1854200"/>
            <a:ext cx="4826000" cy="3886200"/>
          </a:xfrm>
          <a:prstGeom prst="roundRect">
            <a:avLst>
              <a:gd name="adj" fmla="val 3268"/>
            </a:avLst>
          </a:prstGeom>
          <a:solidFill>
            <a:srgbClr val="1C2E37"/>
          </a:solidFill>
          <a:ln/>
        </p:spPr>
      </p:sp>
      <p:sp>
        <p:nvSpPr>
          <p:cNvPr id="6" name="Text 4"/>
          <p:cNvSpPr txBox="1"/>
          <p:nvPr/>
        </p:nvSpPr>
        <p:spPr>
          <a:xfrm>
            <a:off x="1066800" y="2082800"/>
            <a:ext cx="4318000" cy="3429000"/>
          </a:xfrm>
          <a:prstGeom prst="rect">
            <a:avLst/>
          </a:prstGeom>
          <a:noFill/>
          <a:ln/>
        </p:spPr>
        <p:txBody>
          <a:bodyPr wrap="square" lIns="0" tIns="0" rIns="0" bIns="0" rtlCol="0" anchor="t"/>
          <a:lstStyle/>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const</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int led = 13;</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const</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int button = 2;</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setup()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pinMode(led, OUTPUT);</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pinMode(button, INPUT_PULLUP);</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loop() {</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  int</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etat = digitalRead(2);</a:t>
            </a:r>
            <a:endParaRPr lang="en-US" sz="1200" dirty="0"/>
          </a:p>
          <a:p>
            <a:pPr indent="0" marL="0">
              <a:lnSpc>
                <a:spcPct val="130000"/>
              </a:lnSpc>
              <a:buNone/>
            </a:pPr>
            <a:r>
              <a:rPr lang="en-US" sz="1200" dirty="0">
                <a:solidFill>
                  <a:srgbClr val="F2A765"/>
                </a:solidFill>
                <a:latin typeface="Courier New" pitchFamily="34" charset="0"/>
                <a:ea typeface="Courier New" pitchFamily="34" charset="-122"/>
                <a:cs typeface="Courier New" pitchFamily="34" charset="-120"/>
              </a:rPr>
              <a:t>  if</a:t>
            </a:r>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(etat == HIGH)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digitalWrite(13, LOW);</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 else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digitalWrite(13, HIGH);</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rgbClr val="EDE7DA"/>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5892800" y="1854200"/>
            <a:ext cx="304800" cy="304800"/>
          </a:xfrm>
          <a:prstGeom prst="ellipse">
            <a:avLst/>
          </a:prstGeom>
          <a:solidFill>
            <a:srgbClr val="086A70"/>
          </a:solidFill>
          <a:ln/>
        </p:spPr>
      </p:sp>
      <p:sp>
        <p:nvSpPr>
          <p:cNvPr id="8" name="Text 6"/>
          <p:cNvSpPr txBox="1"/>
          <p:nvPr/>
        </p:nvSpPr>
        <p:spPr>
          <a:xfrm>
            <a:off x="58928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324600" y="1879600"/>
            <a:ext cx="5054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INPUT_PULLUP</a:t>
            </a:r>
            <a:endParaRPr lang="en-US" sz="1200" dirty="0"/>
          </a:p>
        </p:txBody>
      </p:sp>
      <p:sp>
        <p:nvSpPr>
          <p:cNvPr id="10" name="Text 8"/>
          <p:cNvSpPr txBox="1"/>
          <p:nvPr/>
        </p:nvSpPr>
        <p:spPr>
          <a:xfrm>
            <a:off x="6324600" y="2120900"/>
            <a:ext cx="5054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La broche 2 devient une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entrée</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HIGH par défaut.</a:t>
            </a:r>
            <a:endParaRPr lang="en-US" sz="1200" dirty="0"/>
          </a:p>
        </p:txBody>
      </p:sp>
      <p:sp>
        <p:nvSpPr>
          <p:cNvPr id="11" name="Shape 9"/>
          <p:cNvSpPr/>
          <p:nvPr/>
        </p:nvSpPr>
        <p:spPr>
          <a:xfrm>
            <a:off x="5892800" y="2679700"/>
            <a:ext cx="304800" cy="304800"/>
          </a:xfrm>
          <a:prstGeom prst="ellipse">
            <a:avLst/>
          </a:prstGeom>
          <a:solidFill>
            <a:srgbClr val="086A70"/>
          </a:solidFill>
          <a:ln/>
        </p:spPr>
      </p:sp>
      <p:sp>
        <p:nvSpPr>
          <p:cNvPr id="12" name="Text 10"/>
          <p:cNvSpPr txBox="1"/>
          <p:nvPr/>
        </p:nvSpPr>
        <p:spPr>
          <a:xfrm>
            <a:off x="5892800" y="2679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324600" y="2705100"/>
            <a:ext cx="5054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int etat = digitalRead(2)</a:t>
            </a:r>
            <a:endParaRPr lang="en-US" sz="1200" dirty="0"/>
          </a:p>
        </p:txBody>
      </p:sp>
      <p:sp>
        <p:nvSpPr>
          <p:cNvPr id="14" name="Text 12"/>
          <p:cNvSpPr txBox="1"/>
          <p:nvPr/>
        </p:nvSpPr>
        <p:spPr>
          <a:xfrm>
            <a:off x="6324600" y="2946400"/>
            <a:ext cx="5054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Je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lis</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la broche et je range le résultat (HIGH ou LOW) dans la variable </a:t>
            </a:r>
            <a:pPr algn="l" indent="0" marL="0">
              <a:lnSpc>
                <a:spcPct val="120000"/>
              </a:lnSpc>
              <a:buNone/>
            </a:pPr>
            <a:r>
              <a:rPr lang="en-US" sz="1200" i="1" dirty="0">
                <a:solidFill>
                  <a:srgbClr val="3E4A52"/>
                </a:solidFill>
                <a:latin typeface="Calibri" pitchFamily="34" charset="0"/>
                <a:ea typeface="Calibri" pitchFamily="34" charset="-122"/>
                <a:cs typeface="Calibri" pitchFamily="34" charset="-120"/>
              </a:rPr>
              <a:t>etat</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5892800" y="3505200"/>
            <a:ext cx="304800" cy="304800"/>
          </a:xfrm>
          <a:prstGeom prst="ellipse">
            <a:avLst/>
          </a:prstGeom>
          <a:solidFill>
            <a:srgbClr val="086A70"/>
          </a:solidFill>
          <a:ln/>
        </p:spPr>
      </p:sp>
      <p:sp>
        <p:nvSpPr>
          <p:cNvPr id="16" name="Text 14"/>
          <p:cNvSpPr txBox="1"/>
          <p:nvPr/>
        </p:nvSpPr>
        <p:spPr>
          <a:xfrm>
            <a:off x="5892800" y="3505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324600" y="3530600"/>
            <a:ext cx="5054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if (etat == HIGH)</a:t>
            </a:r>
            <a:endParaRPr lang="en-US" sz="1200" dirty="0"/>
          </a:p>
        </p:txBody>
      </p:sp>
      <p:sp>
        <p:nvSpPr>
          <p:cNvPr id="18" name="Text 16"/>
          <p:cNvSpPr txBox="1"/>
          <p:nvPr/>
        </p:nvSpPr>
        <p:spPr>
          <a:xfrm>
            <a:off x="6324600" y="3771900"/>
            <a:ext cx="5054600" cy="431800"/>
          </a:xfrm>
          <a:prstGeom prst="rect">
            <a:avLst/>
          </a:prstGeom>
          <a:noFill/>
          <a:ln/>
        </p:spPr>
        <p:txBody>
          <a:bodyPr wrap="square" lIns="0" tIns="0" rIns="0" bIns="0" rtlCol="0" anchor="t"/>
          <a:lstStyle/>
          <a:p>
            <a:pPr algn="l" indent="0" marL="0">
              <a:lnSpc>
                <a:spcPct val="120000"/>
              </a:lnSpc>
              <a:buNone/>
            </a:pPr>
            <a:r>
              <a:rPr lang="en-US" sz="1200" i="1" dirty="0">
                <a:solidFill>
                  <a:srgbClr val="3E4A52"/>
                </a:solidFill>
                <a:latin typeface="Calibri" pitchFamily="34" charset="0"/>
                <a:ea typeface="Calibri" pitchFamily="34" charset="-122"/>
                <a:cs typeface="Calibri" pitchFamily="34" charset="-120"/>
              </a:rPr>
              <a:t>==</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compare (un seul </a:t>
            </a:r>
            <a:pPr algn="l" indent="0" marL="0">
              <a:lnSpc>
                <a:spcPct val="120000"/>
              </a:lnSpc>
              <a:buNone/>
            </a:pPr>
            <a:r>
              <a:rPr lang="en-US" sz="1200" i="1" dirty="0">
                <a:solidFill>
                  <a:srgbClr val="3E4A52"/>
                </a:solidFill>
                <a:latin typeface="Calibri" pitchFamily="34" charset="0"/>
                <a:ea typeface="Calibri" pitchFamily="34" charset="-122"/>
                <a:cs typeface="Calibri" pitchFamily="34" charset="-120"/>
              </a:rPr>
              <a:t>=</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sert à ranger). Relâché → LED éteinte.</a:t>
            </a:r>
            <a:endParaRPr lang="en-US" sz="1200" dirty="0"/>
          </a:p>
        </p:txBody>
      </p:sp>
      <p:sp>
        <p:nvSpPr>
          <p:cNvPr id="19" name="Shape 17"/>
          <p:cNvSpPr/>
          <p:nvPr/>
        </p:nvSpPr>
        <p:spPr>
          <a:xfrm>
            <a:off x="5892800" y="4330700"/>
            <a:ext cx="304800" cy="304800"/>
          </a:xfrm>
          <a:prstGeom prst="ellipse">
            <a:avLst/>
          </a:prstGeom>
          <a:solidFill>
            <a:srgbClr val="086A70"/>
          </a:solidFill>
          <a:ln/>
        </p:spPr>
      </p:sp>
      <p:sp>
        <p:nvSpPr>
          <p:cNvPr id="20" name="Text 18"/>
          <p:cNvSpPr txBox="1"/>
          <p:nvPr/>
        </p:nvSpPr>
        <p:spPr>
          <a:xfrm>
            <a:off x="5892800" y="4330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324600" y="4356100"/>
            <a:ext cx="5054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else</a:t>
            </a:r>
            <a:endParaRPr lang="en-US" sz="1200" dirty="0"/>
          </a:p>
        </p:txBody>
      </p:sp>
      <p:sp>
        <p:nvSpPr>
          <p:cNvPr id="22" name="Text 20"/>
          <p:cNvSpPr txBox="1"/>
          <p:nvPr/>
        </p:nvSpPr>
        <p:spPr>
          <a:xfrm>
            <a:off x="6324600" y="4597400"/>
            <a:ext cx="5054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Sinon (bouton appuyé) → LED allumée. loop() refait ça des milliers de fois par seconde.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52D"/>
        </a:solidFill>
      </p:bgPr>
    </p:bg>
    <p:spTree>
      <p:nvGrpSpPr>
        <p:cNvPr id="1" name=""/>
        <p:cNvGrpSpPr/>
        <p:nvPr/>
      </p:nvGrpSpPr>
      <p:grpSpPr>
        <a:xfrm>
          <a:off x="0" y="0"/>
          <a:ext cx="0" cy="0"/>
          <a:chOff x="0" y="0"/>
          <a:chExt cx="0" cy="0"/>
        </a:xfrm>
      </p:grpSpPr>
      <p:pic>
        <p:nvPicPr>
          <p:cNvPr id="2" name="Image 0" descr="Je tiens mon servomoteur bleu branché à l'Arduino">    </p:cNvPr>
          <p:cNvPicPr>
            <a:picLocks noChangeAspect="1"/>
          </p:cNvPicPr>
          <p:nvPr/>
        </p:nvPicPr>
        <p:blipFill>
          <a:blip r:embed="rId1"/>
          <a:stretch>
            <a:fillRect/>
          </a:stretch>
        </p:blipFill>
        <p:spPr>
          <a:xfrm>
            <a:off x="7366000" y="0"/>
            <a:ext cx="4826000" cy="6858000"/>
          </a:xfrm>
          <a:prstGeom prst="rect">
            <a:avLst/>
          </a:prstGeom>
        </p:spPr>
      </p:pic>
      <p:sp>
        <p:nvSpPr>
          <p:cNvPr id="3" name="Text 0"/>
          <p:cNvSpPr txBox="1"/>
          <p:nvPr/>
        </p:nvSpPr>
        <p:spPr>
          <a:xfrm>
            <a:off x="812800" y="1587500"/>
            <a:ext cx="5715000" cy="1143000"/>
          </a:xfrm>
          <a:prstGeom prst="rect">
            <a:avLst/>
          </a:prstGeom>
          <a:noFill/>
          <a:ln/>
        </p:spPr>
        <p:txBody>
          <a:bodyPr wrap="square" lIns="0" tIns="0" rIns="0" bIns="0" rtlCol="0" anchor="t"/>
          <a:lstStyle/>
          <a:p>
            <a:pPr algn="l" indent="0" marL="0">
              <a:lnSpc>
                <a:spcPct val="90000"/>
              </a:lnSpc>
              <a:buNone/>
            </a:pPr>
            <a:r>
              <a:rPr lang="en-US" sz="9000" b="1" dirty="0">
                <a:solidFill>
                  <a:srgbClr val="E8833A"/>
                </a:solidFill>
                <a:latin typeface="Calibri" pitchFamily="34" charset="0"/>
                <a:ea typeface="Calibri" pitchFamily="34" charset="-122"/>
                <a:cs typeface="Calibri" pitchFamily="34" charset="-120"/>
              </a:rPr>
              <a:t>03</a:t>
            </a:r>
            <a:endParaRPr lang="en-US" sz="9000" dirty="0"/>
          </a:p>
        </p:txBody>
      </p:sp>
      <p:sp>
        <p:nvSpPr>
          <p:cNvPr id="4" name="Text 1"/>
          <p:cNvSpPr txBox="1"/>
          <p:nvPr/>
        </p:nvSpPr>
        <p:spPr>
          <a:xfrm>
            <a:off x="812800" y="2857500"/>
            <a:ext cx="57150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PROJET 3</a:t>
            </a:r>
            <a:endParaRPr lang="en-US" sz="1200" dirty="0"/>
          </a:p>
        </p:txBody>
      </p:sp>
      <p:sp>
        <p:nvSpPr>
          <p:cNvPr id="5" name="Text 2"/>
          <p:cNvSpPr txBox="1"/>
          <p:nvPr/>
        </p:nvSpPr>
        <p:spPr>
          <a:xfrm>
            <a:off x="812800" y="3175000"/>
            <a:ext cx="6350000" cy="571500"/>
          </a:xfrm>
          <a:prstGeom prst="rect">
            <a:avLst/>
          </a:prstGeom>
          <a:noFill/>
          <a:ln/>
        </p:spPr>
        <p:txBody>
          <a:bodyPr wrap="square" lIns="0" tIns="0" rIns="0" bIns="0" rtlCol="0" anchor="t"/>
          <a:lstStyle/>
          <a:p>
            <a:pPr algn="l" indent="0" marL="0">
              <a:lnSpc>
                <a:spcPct val="110000"/>
              </a:lnSpc>
              <a:buNone/>
            </a:pPr>
            <a:r>
              <a:rPr lang="en-US" sz="3600" b="1" dirty="0">
                <a:solidFill>
                  <a:srgbClr val="F5F1E8"/>
                </a:solidFill>
                <a:latin typeface="Calibri" pitchFamily="34" charset="0"/>
                <a:ea typeface="Calibri" pitchFamily="34" charset="-122"/>
                <a:cs typeface="Calibri" pitchFamily="34" charset="-120"/>
              </a:rPr>
              <a:t>MyFirstServomotor</a:t>
            </a:r>
            <a:endParaRPr lang="en-US" sz="3600" dirty="0"/>
          </a:p>
        </p:txBody>
      </p:sp>
      <p:sp>
        <p:nvSpPr>
          <p:cNvPr id="6" name="Text 3"/>
          <p:cNvSpPr txBox="1"/>
          <p:nvPr/>
        </p:nvSpPr>
        <p:spPr>
          <a:xfrm>
            <a:off x="812800" y="3873500"/>
            <a:ext cx="6223000" cy="635000"/>
          </a:xfrm>
          <a:prstGeom prst="rect">
            <a:avLst/>
          </a:prstGeom>
          <a:noFill/>
          <a:ln/>
        </p:spPr>
        <p:txBody>
          <a:bodyPr wrap="square" lIns="0" tIns="0" rIns="0" bIns="0" rtlCol="0" anchor="t"/>
          <a:lstStyle/>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Faire tourner un servomoteur de 0° à 180°, puis revenir.</a:t>
            </a:r>
            <a:endParaRPr lang="en-US" sz="1600" dirty="0"/>
          </a:p>
        </p:txBody>
      </p:sp>
      <p:sp>
        <p:nvSpPr>
          <p:cNvPr id="7" name="Text 4"/>
          <p:cNvSpPr txBox="1"/>
          <p:nvPr/>
        </p:nvSpPr>
        <p:spPr>
          <a:xfrm>
            <a:off x="812800" y="4635500"/>
            <a:ext cx="6223000" cy="762000"/>
          </a:xfrm>
          <a:prstGeom prst="rect">
            <a:avLst/>
          </a:prstGeom>
          <a:noFill/>
          <a:ln/>
        </p:spPr>
        <p:txBody>
          <a:bodyPr wrap="square" lIns="0" tIns="0" rIns="0" bIns="0" rtlCol="0" anchor="t"/>
          <a:lstStyle/>
          <a:p>
            <a:pPr algn="l" indent="0" marL="0">
              <a:lnSpc>
                <a:spcPct val="105000"/>
              </a:lnSpc>
              <a:buNone/>
            </a:pPr>
            <a:r>
              <a:rPr lang="en-US" sz="1968" i="1" dirty="0">
                <a:solidFill>
                  <a:srgbClr val="F2A765"/>
                </a:solidFill>
                <a:latin typeface="Calibri" pitchFamily="34" charset="0"/>
                <a:ea typeface="Calibri" pitchFamily="34" charset="-122"/>
                <a:cs typeface="Calibri" pitchFamily="34" charset="-120"/>
              </a:rPr>
              <a:t>« Sans ce délai, le servo ne pourrait pas suivre. »</a:t>
            </a:r>
            <a:endParaRPr lang="en-US" sz="196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17</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3 · MYFIRSTSERVOMOTOR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montage : 3 fils, c'est tout</a:t>
            </a:r>
            <a:endParaRPr lang="en-US" sz="3200" dirty="0"/>
          </a:p>
        </p:txBody>
      </p:sp>
      <p:sp>
        <p:nvSpPr>
          <p:cNvPr id="5" name="Shape 3"/>
          <p:cNvSpPr/>
          <p:nvPr/>
        </p:nvSpPr>
        <p:spPr>
          <a:xfrm>
            <a:off x="812800" y="1854200"/>
            <a:ext cx="7010400" cy="1905000"/>
          </a:xfrm>
          <a:prstGeom prst="roundRect">
            <a:avLst>
              <a:gd name="adj" fmla="val 5333"/>
            </a:avLst>
          </a:prstGeom>
          <a:solidFill>
            <a:srgbClr val="FFFFFF"/>
          </a:solidFill>
          <a:ln w="9525">
            <a:solidFill>
              <a:srgbClr val="DDD5C4"/>
            </a:solidFill>
            <a:prstDash val="solid"/>
          </a:ln>
        </p:spPr>
      </p:sp>
      <p:pic>
        <p:nvPicPr>
          <p:cNvPr id="6" name="Image 0" descr="Schéma du servomoteur branché à l'Arduino">    </p:cNvPr>
          <p:cNvPicPr>
            <a:picLocks noChangeAspect="1"/>
          </p:cNvPicPr>
          <p:nvPr/>
        </p:nvPicPr>
        <p:blipFill>
          <a:blip r:embed="rId1"/>
          <a:stretch>
            <a:fillRect/>
          </a:stretch>
        </p:blipFill>
        <p:spPr>
          <a:xfrm>
            <a:off x="2595665" y="1930400"/>
            <a:ext cx="3444671" cy="1752600"/>
          </a:xfrm>
          <a:prstGeom prst="rect">
            <a:avLst/>
          </a:prstGeom>
        </p:spPr>
      </p:pic>
      <p:sp>
        <p:nvSpPr>
          <p:cNvPr id="7" name="Text 4"/>
          <p:cNvSpPr txBox="1"/>
          <p:nvPr/>
        </p:nvSpPr>
        <p:spPr>
          <a:xfrm>
            <a:off x="812800" y="3835400"/>
            <a:ext cx="70104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Le schéma</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00" y="4191000"/>
          <a:ext cx="7010400" cy="914400"/>
        </p:xfrm>
        <a:graphic>
          <a:graphicData uri="http://schemas.openxmlformats.org/drawingml/2006/table">
            <a:tbl>
              <a:tblPr/>
              <a:tblGrid>
                <a:gridCol w="2103120"/>
                <a:gridCol w="2103120"/>
                <a:gridCol w="2804160"/>
              </a:tblGrid>
              <a:tr h="0">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Fil du servo</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Va sur</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Rôle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Marron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GND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la masse (le −)</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Rouge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5V</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l'alimentation du moteur</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Orange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Broche 8</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le signal : l'angle à prendre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bl>
          </a:graphicData>
        </a:graphic>
      </p:graphicFrame>
      <p:pic>
        <p:nvPicPr>
          <p:cNvPr id="9" name="Image 1" descr="Mon servomoteur bleu posé sur l'ordinateur">    </p:cNvPr>
          <p:cNvPicPr>
            <a:picLocks noChangeAspect="1"/>
          </p:cNvPicPr>
          <p:nvPr/>
        </p:nvPicPr>
        <p:blipFill>
          <a:blip r:embed="rId2"/>
          <a:stretch>
            <a:fillRect/>
          </a:stretch>
        </p:blipFill>
        <p:spPr>
          <a:xfrm>
            <a:off x="8077200" y="1854200"/>
            <a:ext cx="3302000" cy="3556000"/>
          </a:xfrm>
          <a:prstGeom prst="rect">
            <a:avLst/>
          </a:prstGeom>
        </p:spPr>
      </p:pic>
      <p:sp>
        <p:nvSpPr>
          <p:cNvPr id="10" name="Text 5"/>
          <p:cNvSpPr txBox="1"/>
          <p:nvPr/>
        </p:nvSpPr>
        <p:spPr>
          <a:xfrm>
            <a:off x="8077200" y="5486400"/>
            <a:ext cx="3302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Mon servo (petit modèle bleu)</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18</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3 · MYFIRSTSERVOMOTOR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code, ligne par ligne</a:t>
            </a:r>
            <a:endParaRPr lang="en-US" sz="3200" dirty="0"/>
          </a:p>
        </p:txBody>
      </p:sp>
      <p:sp>
        <p:nvSpPr>
          <p:cNvPr id="5" name="Shape 3"/>
          <p:cNvSpPr/>
          <p:nvPr/>
        </p:nvSpPr>
        <p:spPr>
          <a:xfrm>
            <a:off x="812800" y="1854200"/>
            <a:ext cx="5207000" cy="3810000"/>
          </a:xfrm>
          <a:prstGeom prst="roundRect">
            <a:avLst>
              <a:gd name="adj" fmla="val 3333"/>
            </a:avLst>
          </a:prstGeom>
          <a:solidFill>
            <a:srgbClr val="1C2E37"/>
          </a:solidFill>
          <a:ln/>
        </p:spPr>
      </p:sp>
      <p:sp>
        <p:nvSpPr>
          <p:cNvPr id="6" name="Text 4"/>
          <p:cNvSpPr txBox="1"/>
          <p:nvPr/>
        </p:nvSpPr>
        <p:spPr>
          <a:xfrm>
            <a:off x="1066800" y="2082800"/>
            <a:ext cx="4699000" cy="3352800"/>
          </a:xfrm>
          <a:prstGeom prst="rect">
            <a:avLst/>
          </a:prstGeom>
          <a:noFill/>
          <a:ln/>
        </p:spPr>
        <p:txBody>
          <a:bodyPr wrap="square" lIns="0" tIns="0" rIns="0" bIns="0" rtlCol="0" anchor="t"/>
          <a:lstStyle/>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#include</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&lt;Servo.h&gt;</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la bibliothèque</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Servo myservo;</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crée l'objet</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int</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pos = 0;</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angle actuel (0 à 180)</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setup() {</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myservo.attach(8);</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branché sur la broche 8</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loop() {</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  for</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(pos = 0; pos &lt;= 180; pos += 1) {</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myservo.write(pos);</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va à l'angle pos</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delay(15);</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  for</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(pos = 180; pos &gt;= 0; pos -= 1) {</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myservo.write(pos);</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delay(15);</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6273800" y="1854200"/>
            <a:ext cx="304800" cy="304800"/>
          </a:xfrm>
          <a:prstGeom prst="ellipse">
            <a:avLst/>
          </a:prstGeom>
          <a:solidFill>
            <a:srgbClr val="086A70"/>
          </a:solidFill>
          <a:ln/>
        </p:spPr>
      </p:sp>
      <p:sp>
        <p:nvSpPr>
          <p:cNvPr id="8" name="Text 6"/>
          <p:cNvSpPr txBox="1"/>
          <p:nvPr/>
        </p:nvSpPr>
        <p:spPr>
          <a:xfrm>
            <a:off x="62738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705600" y="18796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#include &lt;Servo.h&gt;</a:t>
            </a:r>
            <a:endParaRPr lang="en-US" sz="1200" dirty="0"/>
          </a:p>
        </p:txBody>
      </p:sp>
      <p:sp>
        <p:nvSpPr>
          <p:cNvPr id="10" name="Text 8"/>
          <p:cNvSpPr txBox="1"/>
          <p:nvPr/>
        </p:nvSpPr>
        <p:spPr>
          <a:xfrm>
            <a:off x="6705600" y="21209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importe la bibliothèque Servo, qui contient toutes les fonctions ».</a:t>
            </a:r>
            <a:endParaRPr lang="en-US" sz="1200" dirty="0"/>
          </a:p>
        </p:txBody>
      </p:sp>
      <p:sp>
        <p:nvSpPr>
          <p:cNvPr id="11" name="Shape 9"/>
          <p:cNvSpPr/>
          <p:nvPr/>
        </p:nvSpPr>
        <p:spPr>
          <a:xfrm>
            <a:off x="6273800" y="2679700"/>
            <a:ext cx="304800" cy="304800"/>
          </a:xfrm>
          <a:prstGeom prst="ellipse">
            <a:avLst/>
          </a:prstGeom>
          <a:solidFill>
            <a:srgbClr val="086A70"/>
          </a:solidFill>
          <a:ln/>
        </p:spPr>
      </p:sp>
      <p:sp>
        <p:nvSpPr>
          <p:cNvPr id="12" name="Text 10"/>
          <p:cNvSpPr txBox="1"/>
          <p:nvPr/>
        </p:nvSpPr>
        <p:spPr>
          <a:xfrm>
            <a:off x="6273800" y="2679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705600" y="27051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Servo myservo</a:t>
            </a:r>
            <a:endParaRPr lang="en-US" sz="1200" dirty="0"/>
          </a:p>
        </p:txBody>
      </p:sp>
      <p:sp>
        <p:nvSpPr>
          <p:cNvPr id="14" name="Text 12"/>
          <p:cNvSpPr txBox="1"/>
          <p:nvPr/>
        </p:nvSpPr>
        <p:spPr>
          <a:xfrm>
            <a:off x="6705600" y="29464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Je crée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un objet</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 mon servo a un nom et des fonctions (attach, write).</a:t>
            </a:r>
            <a:endParaRPr lang="en-US" sz="1200" dirty="0"/>
          </a:p>
        </p:txBody>
      </p:sp>
      <p:sp>
        <p:nvSpPr>
          <p:cNvPr id="15" name="Shape 13"/>
          <p:cNvSpPr/>
          <p:nvPr/>
        </p:nvSpPr>
        <p:spPr>
          <a:xfrm>
            <a:off x="6273800" y="3505200"/>
            <a:ext cx="304800" cy="304800"/>
          </a:xfrm>
          <a:prstGeom prst="ellipse">
            <a:avLst/>
          </a:prstGeom>
          <a:solidFill>
            <a:srgbClr val="086A70"/>
          </a:solidFill>
          <a:ln/>
        </p:spPr>
      </p:sp>
      <p:sp>
        <p:nvSpPr>
          <p:cNvPr id="16" name="Text 14"/>
          <p:cNvSpPr txBox="1"/>
          <p:nvPr/>
        </p:nvSpPr>
        <p:spPr>
          <a:xfrm>
            <a:off x="6273800" y="3505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705600" y="35306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myservo.write(pos)</a:t>
            </a:r>
            <a:endParaRPr lang="en-US" sz="1200" dirty="0"/>
          </a:p>
        </p:txBody>
      </p:sp>
      <p:sp>
        <p:nvSpPr>
          <p:cNvPr id="18" name="Text 16"/>
          <p:cNvSpPr txBox="1"/>
          <p:nvPr/>
        </p:nvSpPr>
        <p:spPr>
          <a:xfrm>
            <a:off x="6705600" y="37719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On envoie l'ordre au servomoteur d'aller à l'angle pos. »</a:t>
            </a:r>
            <a:endParaRPr lang="en-US" sz="1200" dirty="0"/>
          </a:p>
        </p:txBody>
      </p:sp>
      <p:sp>
        <p:nvSpPr>
          <p:cNvPr id="19" name="Shape 17"/>
          <p:cNvSpPr/>
          <p:nvPr/>
        </p:nvSpPr>
        <p:spPr>
          <a:xfrm>
            <a:off x="6273800" y="4330700"/>
            <a:ext cx="304800" cy="304800"/>
          </a:xfrm>
          <a:prstGeom prst="ellipse">
            <a:avLst/>
          </a:prstGeom>
          <a:solidFill>
            <a:srgbClr val="086A70"/>
          </a:solidFill>
          <a:ln/>
        </p:spPr>
      </p:sp>
      <p:sp>
        <p:nvSpPr>
          <p:cNvPr id="20" name="Text 18"/>
          <p:cNvSpPr txBox="1"/>
          <p:nvPr/>
        </p:nvSpPr>
        <p:spPr>
          <a:xfrm>
            <a:off x="6273800" y="4330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705600" y="43561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delay(15)</a:t>
            </a:r>
            <a:endParaRPr lang="en-US" sz="1200" dirty="0"/>
          </a:p>
        </p:txBody>
      </p:sp>
      <p:sp>
        <p:nvSpPr>
          <p:cNvPr id="22" name="Text 20"/>
          <p:cNvSpPr txBox="1"/>
          <p:nvPr/>
        </p:nvSpPr>
        <p:spPr>
          <a:xfrm>
            <a:off x="6705600" y="45974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Cela laisse le temps au servo d'atteindre la position demandée. »</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19</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3 · MYFIRSTSERVOMOTOR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La boucle for, décortiquée</a:t>
            </a:r>
            <a:endParaRPr lang="en-US" sz="3200" dirty="0"/>
          </a:p>
        </p:txBody>
      </p:sp>
      <p:sp>
        <p:nvSpPr>
          <p:cNvPr id="5" name="Shape 3"/>
          <p:cNvSpPr/>
          <p:nvPr/>
        </p:nvSpPr>
        <p:spPr>
          <a:xfrm>
            <a:off x="812800" y="1854200"/>
            <a:ext cx="10566400" cy="749300"/>
          </a:xfrm>
          <a:prstGeom prst="roundRect">
            <a:avLst>
              <a:gd name="adj" fmla="val 16949"/>
            </a:avLst>
          </a:prstGeom>
          <a:solidFill>
            <a:srgbClr val="FFFDF8"/>
          </a:solidFill>
          <a:ln w="9525">
            <a:solidFill>
              <a:srgbClr val="DDD5C4"/>
            </a:solidFill>
            <a:prstDash val="solid"/>
          </a:ln>
        </p:spPr>
      </p:sp>
      <p:sp>
        <p:nvSpPr>
          <p:cNvPr id="6" name="Text 4"/>
          <p:cNvSpPr txBox="1"/>
          <p:nvPr/>
        </p:nvSpPr>
        <p:spPr>
          <a:xfrm>
            <a:off x="1066800" y="1854200"/>
            <a:ext cx="10058400" cy="749300"/>
          </a:xfrm>
          <a:prstGeom prst="rect">
            <a:avLst/>
          </a:prstGeom>
          <a:noFill/>
          <a:ln/>
        </p:spPr>
        <p:txBody>
          <a:bodyPr wrap="square" lIns="0" tIns="0" rIns="0" bIns="0" rtlCol="0" anchor="ctr"/>
          <a:lstStyle/>
          <a:p>
            <a:pPr algn="l" indent="0" marL="0">
              <a:lnSpc>
                <a:spcPct val="110000"/>
              </a:lnSpc>
              <a:buNone/>
            </a:pPr>
            <a:r>
              <a:rPr lang="en-US" sz="2200" b="1" dirty="0">
                <a:solidFill>
                  <a:srgbClr val="16252D"/>
                </a:solidFill>
                <a:latin typeface="Courier New" pitchFamily="34" charset="0"/>
                <a:ea typeface="Courier New" pitchFamily="34" charset="-122"/>
                <a:cs typeface="Courier New" pitchFamily="34" charset="-120"/>
              </a:rPr>
              <a:t>for (</a:t>
            </a:r>
            <a:pPr algn="l" indent="0" marL="0">
              <a:lnSpc>
                <a:spcPct val="110000"/>
              </a:lnSpc>
              <a:buNone/>
            </a:pPr>
            <a:r>
              <a:rPr lang="en-US" sz="2200" b="1" dirty="0">
                <a:solidFill>
                  <a:srgbClr val="086A70"/>
                </a:solidFill>
                <a:latin typeface="Courier New" pitchFamily="34" charset="0"/>
                <a:ea typeface="Courier New" pitchFamily="34" charset="-122"/>
                <a:cs typeface="Courier New" pitchFamily="34" charset="-120"/>
              </a:rPr>
              <a:t>pos = 0</a:t>
            </a:r>
            <a:pPr algn="l" indent="0" marL="0">
              <a:lnSpc>
                <a:spcPct val="110000"/>
              </a:lnSpc>
              <a:buNone/>
            </a:pPr>
            <a:r>
              <a:rPr lang="en-US" sz="2200" b="1" dirty="0">
                <a:solidFill>
                  <a:srgbClr val="16252D"/>
                </a:solidFill>
                <a:latin typeface="Courier New" pitchFamily="34" charset="0"/>
                <a:ea typeface="Courier New" pitchFamily="34" charset="-122"/>
                <a:cs typeface="Courier New" pitchFamily="34" charset="-120"/>
              </a:rPr>
              <a:t>; </a:t>
            </a:r>
            <a:pPr algn="l" indent="0" marL="0">
              <a:lnSpc>
                <a:spcPct val="110000"/>
              </a:lnSpc>
              <a:buNone/>
            </a:pPr>
            <a:r>
              <a:rPr lang="en-US" sz="2200" b="1" dirty="0">
                <a:solidFill>
                  <a:srgbClr val="9A4712"/>
                </a:solidFill>
                <a:latin typeface="Courier New" pitchFamily="34" charset="0"/>
                <a:ea typeface="Courier New" pitchFamily="34" charset="-122"/>
                <a:cs typeface="Courier New" pitchFamily="34" charset="-120"/>
              </a:rPr>
              <a:t>pos &lt;= 180</a:t>
            </a:r>
            <a:pPr algn="l" indent="0" marL="0">
              <a:lnSpc>
                <a:spcPct val="110000"/>
              </a:lnSpc>
              <a:buNone/>
            </a:pPr>
            <a:r>
              <a:rPr lang="en-US" sz="2200" b="1" dirty="0">
                <a:solidFill>
                  <a:srgbClr val="16252D"/>
                </a:solidFill>
                <a:latin typeface="Courier New" pitchFamily="34" charset="0"/>
                <a:ea typeface="Courier New" pitchFamily="34" charset="-122"/>
                <a:cs typeface="Courier New" pitchFamily="34" charset="-120"/>
              </a:rPr>
              <a:t>; </a:t>
            </a:r>
            <a:pPr algn="l" indent="0" marL="0">
              <a:lnSpc>
                <a:spcPct val="110000"/>
              </a:lnSpc>
              <a:buNone/>
            </a:pPr>
            <a:r>
              <a:rPr lang="en-US" sz="2200" b="1" dirty="0">
                <a:solidFill>
                  <a:srgbClr val="2E6FD1"/>
                </a:solidFill>
                <a:latin typeface="Courier New" pitchFamily="34" charset="0"/>
                <a:ea typeface="Courier New" pitchFamily="34" charset="-122"/>
                <a:cs typeface="Courier New" pitchFamily="34" charset="-120"/>
              </a:rPr>
              <a:t>pos += 1</a:t>
            </a:r>
            <a:pPr algn="l" indent="0" marL="0">
              <a:lnSpc>
                <a:spcPct val="110000"/>
              </a:lnSpc>
              <a:buNone/>
            </a:pPr>
            <a:r>
              <a:rPr lang="en-US" sz="2200" b="1" dirty="0">
                <a:solidFill>
                  <a:srgbClr val="16252D"/>
                </a:solidFill>
                <a:latin typeface="Courier New" pitchFamily="34" charset="0"/>
                <a:ea typeface="Courier New" pitchFamily="34" charset="-122"/>
                <a:cs typeface="Courier New" pitchFamily="34" charset="-120"/>
              </a:rPr>
              <a:t>)</a:t>
            </a:r>
            <a:endParaRPr lang="en-US" sz="2200" dirty="0"/>
          </a:p>
        </p:txBody>
      </p:sp>
      <p:sp>
        <p:nvSpPr>
          <p:cNvPr id="7" name="Shape 5"/>
          <p:cNvSpPr/>
          <p:nvPr/>
        </p:nvSpPr>
        <p:spPr>
          <a:xfrm>
            <a:off x="812800" y="2857500"/>
            <a:ext cx="3386667" cy="1333500"/>
          </a:xfrm>
          <a:prstGeom prst="roundRect">
            <a:avLst>
              <a:gd name="adj" fmla="val 9524"/>
            </a:avLst>
          </a:prstGeom>
          <a:solidFill>
            <a:srgbClr val="FFFDF8"/>
          </a:solidFill>
          <a:ln w="9525">
            <a:solidFill>
              <a:srgbClr val="DDD5C4"/>
            </a:solidFill>
            <a:prstDash val="solid"/>
          </a:ln>
        </p:spPr>
      </p:sp>
      <p:sp>
        <p:nvSpPr>
          <p:cNvPr id="8" name="Text 6"/>
          <p:cNvSpPr txBox="1"/>
          <p:nvPr/>
        </p:nvSpPr>
        <p:spPr>
          <a:xfrm>
            <a:off x="1041400" y="30607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086A70"/>
                </a:solidFill>
                <a:latin typeface="Calibri" pitchFamily="34" charset="0"/>
                <a:ea typeface="Calibri" pitchFamily="34" charset="-122"/>
                <a:cs typeface="Calibri" pitchFamily="34" charset="-120"/>
              </a:rPr>
              <a:t>① Départ</a:t>
            </a:r>
            <a:endParaRPr lang="en-US" sz="1600" dirty="0"/>
          </a:p>
        </p:txBody>
      </p:sp>
      <p:sp>
        <p:nvSpPr>
          <p:cNvPr id="9" name="Text 7"/>
          <p:cNvSpPr txBox="1"/>
          <p:nvPr/>
        </p:nvSpPr>
        <p:spPr>
          <a:xfrm>
            <a:off x="1041400" y="3416300"/>
            <a:ext cx="2929467" cy="571500"/>
          </a:xfrm>
          <a:prstGeom prst="rect">
            <a:avLst/>
          </a:prstGeom>
          <a:noFill/>
          <a:ln/>
        </p:spPr>
        <p:txBody>
          <a:bodyPr wrap="square" lIns="0" tIns="0" rIns="0" bIns="0" rtlCol="0" anchor="t"/>
          <a:lstStyle/>
          <a:p>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pos = 0</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on commence à 0°.</a:t>
            </a:r>
            <a:endParaRPr lang="en-US" sz="1300" dirty="0"/>
          </a:p>
        </p:txBody>
      </p:sp>
      <p:sp>
        <p:nvSpPr>
          <p:cNvPr id="10" name="Shape 8"/>
          <p:cNvSpPr/>
          <p:nvPr/>
        </p:nvSpPr>
        <p:spPr>
          <a:xfrm>
            <a:off x="4402667" y="2857500"/>
            <a:ext cx="3386667" cy="1333500"/>
          </a:xfrm>
          <a:prstGeom prst="roundRect">
            <a:avLst>
              <a:gd name="adj" fmla="val 9524"/>
            </a:avLst>
          </a:prstGeom>
          <a:solidFill>
            <a:srgbClr val="FFFDF8"/>
          </a:solidFill>
          <a:ln w="9525">
            <a:solidFill>
              <a:srgbClr val="DDD5C4"/>
            </a:solidFill>
            <a:prstDash val="solid"/>
          </a:ln>
        </p:spPr>
      </p:sp>
      <p:sp>
        <p:nvSpPr>
          <p:cNvPr id="11" name="Text 9"/>
          <p:cNvSpPr txBox="1"/>
          <p:nvPr/>
        </p:nvSpPr>
        <p:spPr>
          <a:xfrm>
            <a:off x="4631267" y="30607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9A4712"/>
                </a:solidFill>
                <a:latin typeface="Calibri" pitchFamily="34" charset="0"/>
                <a:ea typeface="Calibri" pitchFamily="34" charset="-122"/>
                <a:cs typeface="Calibri" pitchFamily="34" charset="-120"/>
              </a:rPr>
              <a:t>② Tant que…</a:t>
            </a:r>
            <a:endParaRPr lang="en-US" sz="1600" dirty="0"/>
          </a:p>
        </p:txBody>
      </p:sp>
      <p:sp>
        <p:nvSpPr>
          <p:cNvPr id="12" name="Text 10"/>
          <p:cNvSpPr txBox="1"/>
          <p:nvPr/>
        </p:nvSpPr>
        <p:spPr>
          <a:xfrm>
            <a:off x="4631267" y="3416300"/>
            <a:ext cx="2929467" cy="571500"/>
          </a:xfrm>
          <a:prstGeom prst="rect">
            <a:avLst/>
          </a:prstGeom>
          <a:noFill/>
          <a:ln/>
        </p:spPr>
        <p:txBody>
          <a:bodyPr wrap="square" lIns="0" tIns="0" rIns="0" bIns="0" rtlCol="0" anchor="t"/>
          <a:lstStyle/>
          <a:p>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pos &lt;= 180</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on continue tant qu'on n'a pas dépassé 180°.</a:t>
            </a:r>
            <a:endParaRPr lang="en-US" sz="1300" dirty="0"/>
          </a:p>
        </p:txBody>
      </p:sp>
      <p:sp>
        <p:nvSpPr>
          <p:cNvPr id="13" name="Shape 11"/>
          <p:cNvSpPr/>
          <p:nvPr/>
        </p:nvSpPr>
        <p:spPr>
          <a:xfrm>
            <a:off x="7992533" y="2857500"/>
            <a:ext cx="3386667" cy="1333500"/>
          </a:xfrm>
          <a:prstGeom prst="roundRect">
            <a:avLst>
              <a:gd name="adj" fmla="val 9524"/>
            </a:avLst>
          </a:prstGeom>
          <a:solidFill>
            <a:srgbClr val="FFFDF8"/>
          </a:solidFill>
          <a:ln w="9525">
            <a:solidFill>
              <a:srgbClr val="DDD5C4"/>
            </a:solidFill>
            <a:prstDash val="solid"/>
          </a:ln>
        </p:spPr>
      </p:sp>
      <p:sp>
        <p:nvSpPr>
          <p:cNvPr id="14" name="Text 12"/>
          <p:cNvSpPr txBox="1"/>
          <p:nvPr/>
        </p:nvSpPr>
        <p:spPr>
          <a:xfrm>
            <a:off x="8221133" y="30607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2E6FD1"/>
                </a:solidFill>
                <a:latin typeface="Calibri" pitchFamily="34" charset="0"/>
                <a:ea typeface="Calibri" pitchFamily="34" charset="-122"/>
                <a:cs typeface="Calibri" pitchFamily="34" charset="-120"/>
              </a:rPr>
              <a:t>③ À chaque tour</a:t>
            </a:r>
            <a:endParaRPr lang="en-US" sz="1600" dirty="0"/>
          </a:p>
        </p:txBody>
      </p:sp>
      <p:sp>
        <p:nvSpPr>
          <p:cNvPr id="15" name="Text 13"/>
          <p:cNvSpPr txBox="1"/>
          <p:nvPr/>
        </p:nvSpPr>
        <p:spPr>
          <a:xfrm>
            <a:off x="8221133" y="3416300"/>
            <a:ext cx="2929467" cy="571500"/>
          </a:xfrm>
          <a:prstGeom prst="rect">
            <a:avLst/>
          </a:prstGeom>
          <a:noFill/>
          <a:ln/>
        </p:spPr>
        <p:txBody>
          <a:bodyPr wrap="square" lIns="0" tIns="0" rIns="0" bIns="0" rtlCol="0" anchor="t"/>
          <a:lstStyle/>
          <a:p>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pos += 1</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on ajoute 1°. (Au retour : pos -= 1.)</a:t>
            </a:r>
            <a:endParaRPr lang="en-US" sz="1300" dirty="0"/>
          </a:p>
        </p:txBody>
      </p:sp>
      <p:sp>
        <p:nvSpPr>
          <p:cNvPr id="16" name="Text 14"/>
          <p:cNvSpPr txBox="1"/>
          <p:nvPr/>
        </p:nvSpPr>
        <p:spPr>
          <a:xfrm>
            <a:off x="812800" y="4508500"/>
            <a:ext cx="3048000" cy="698500"/>
          </a:xfrm>
          <a:prstGeom prst="rect">
            <a:avLst/>
          </a:prstGeom>
          <a:noFill/>
          <a:ln/>
        </p:spPr>
        <p:txBody>
          <a:bodyPr wrap="square" lIns="0" tIns="0" rIns="0" bIns="0" rtlCol="0" anchor="b"/>
          <a:lstStyle/>
          <a:p>
            <a:pPr algn="l" indent="0" marL="0">
              <a:lnSpc>
                <a:spcPct val="110000"/>
              </a:lnSpc>
              <a:buNone/>
            </a:pPr>
            <a:r>
              <a:rPr lang="en-US" sz="4800" b="1" dirty="0">
                <a:solidFill>
                  <a:srgbClr val="16252D"/>
                </a:solidFill>
                <a:latin typeface="Calibri" pitchFamily="34" charset="0"/>
                <a:ea typeface="Calibri" pitchFamily="34" charset="-122"/>
                <a:cs typeface="Calibri" pitchFamily="34" charset="-120"/>
              </a:rPr>
              <a:t>≈ 2,7 s</a:t>
            </a:r>
            <a:endParaRPr lang="en-US" sz="4800" dirty="0"/>
          </a:p>
        </p:txBody>
      </p:sp>
      <p:sp>
        <p:nvSpPr>
          <p:cNvPr id="17" name="Text 15"/>
          <p:cNvSpPr txBox="1"/>
          <p:nvPr/>
        </p:nvSpPr>
        <p:spPr>
          <a:xfrm>
            <a:off x="4165600" y="4572000"/>
            <a:ext cx="7213600" cy="635000"/>
          </a:xfrm>
          <a:prstGeom prst="rect">
            <a:avLst/>
          </a:prstGeom>
          <a:noFill/>
          <a:ln/>
        </p:spPr>
        <p:txBody>
          <a:bodyPr wrap="square" lIns="0" tIns="0" rIns="0" bIns="0" rtlCol="0" anchor="b"/>
          <a:lstStyle/>
          <a:p>
            <a:pPr algn="l" indent="0" marL="0">
              <a:lnSpc>
                <a:spcPct val="120000"/>
              </a:lnSpc>
              <a:buNone/>
            </a:pPr>
            <a:r>
              <a:rPr lang="en-US" sz="1500" dirty="0">
                <a:solidFill>
                  <a:srgbClr val="3E4A52"/>
                </a:solidFill>
                <a:latin typeface="Calibri" pitchFamily="34" charset="0"/>
                <a:ea typeface="Calibri" pitchFamily="34" charset="-122"/>
                <a:cs typeface="Calibri" pitchFamily="34" charset="-120"/>
              </a:rPr>
              <a:t>pour aller de 0° à 180° : 181 positions × 15 ms = 2 715 ms. Pareil pour revenir. Un aller-retour complet ≈ 5,4 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52D"/>
        </a:solidFill>
      </p:bgPr>
    </p:bg>
    <p:spTree>
      <p:nvGrpSpPr>
        <p:cNvPr id="1" name=""/>
        <p:cNvGrpSpPr/>
        <p:nvPr/>
      </p:nvGrpSpPr>
      <p:grpSpPr>
        <a:xfrm>
          <a:off x="0" y="0"/>
          <a:ext cx="0" cy="0"/>
          <a:chOff x="0" y="0"/>
          <a:chExt cx="0" cy="0"/>
        </a:xfrm>
      </p:grpSpPr>
      <p:pic>
        <p:nvPicPr>
          <p:cNvPr id="2" name="Image 0" descr="Mon écran OLED affiche Bonjour Agashae">    </p:cNvPr>
          <p:cNvPicPr>
            <a:picLocks noChangeAspect="1"/>
          </p:cNvPicPr>
          <p:nvPr/>
        </p:nvPicPr>
        <p:blipFill>
          <a:blip r:embed="rId1"/>
          <a:stretch>
            <a:fillRect/>
          </a:stretch>
        </p:blipFill>
        <p:spPr>
          <a:xfrm>
            <a:off x="7366000" y="0"/>
            <a:ext cx="4826000" cy="6858000"/>
          </a:xfrm>
          <a:prstGeom prst="rect">
            <a:avLst/>
          </a:prstGeom>
        </p:spPr>
      </p:pic>
      <p:sp>
        <p:nvSpPr>
          <p:cNvPr id="3" name="Text 0"/>
          <p:cNvSpPr txBox="1"/>
          <p:nvPr/>
        </p:nvSpPr>
        <p:spPr>
          <a:xfrm>
            <a:off x="812800" y="1587500"/>
            <a:ext cx="5715000" cy="1143000"/>
          </a:xfrm>
          <a:prstGeom prst="rect">
            <a:avLst/>
          </a:prstGeom>
          <a:noFill/>
          <a:ln/>
        </p:spPr>
        <p:txBody>
          <a:bodyPr wrap="square" lIns="0" tIns="0" rIns="0" bIns="0" rtlCol="0" anchor="t"/>
          <a:lstStyle/>
          <a:p>
            <a:pPr algn="l" indent="0" marL="0">
              <a:lnSpc>
                <a:spcPct val="90000"/>
              </a:lnSpc>
              <a:buNone/>
            </a:pPr>
            <a:r>
              <a:rPr lang="en-US" sz="9000" b="1" dirty="0">
                <a:solidFill>
                  <a:srgbClr val="E8833A"/>
                </a:solidFill>
                <a:latin typeface="Calibri" pitchFamily="34" charset="0"/>
                <a:ea typeface="Calibri" pitchFamily="34" charset="-122"/>
                <a:cs typeface="Calibri" pitchFamily="34" charset="-120"/>
              </a:rPr>
              <a:t>04</a:t>
            </a:r>
            <a:endParaRPr lang="en-US" sz="9000" dirty="0"/>
          </a:p>
        </p:txBody>
      </p:sp>
      <p:sp>
        <p:nvSpPr>
          <p:cNvPr id="4" name="Text 1"/>
          <p:cNvSpPr txBox="1"/>
          <p:nvPr/>
        </p:nvSpPr>
        <p:spPr>
          <a:xfrm>
            <a:off x="812800" y="2857500"/>
            <a:ext cx="57150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PROJET 4</a:t>
            </a:r>
            <a:endParaRPr lang="en-US" sz="1200" dirty="0"/>
          </a:p>
        </p:txBody>
      </p:sp>
      <p:sp>
        <p:nvSpPr>
          <p:cNvPr id="5" name="Text 2"/>
          <p:cNvSpPr txBox="1"/>
          <p:nvPr/>
        </p:nvSpPr>
        <p:spPr>
          <a:xfrm>
            <a:off x="812800" y="3175000"/>
            <a:ext cx="6350000" cy="571500"/>
          </a:xfrm>
          <a:prstGeom prst="rect">
            <a:avLst/>
          </a:prstGeom>
          <a:noFill/>
          <a:ln/>
        </p:spPr>
        <p:txBody>
          <a:bodyPr wrap="square" lIns="0" tIns="0" rIns="0" bIns="0" rtlCol="0" anchor="t"/>
          <a:lstStyle/>
          <a:p>
            <a:pPr algn="l" indent="0" marL="0">
              <a:lnSpc>
                <a:spcPct val="110000"/>
              </a:lnSpc>
              <a:buNone/>
            </a:pPr>
            <a:r>
              <a:rPr lang="en-US" sz="3600" b="1" dirty="0">
                <a:solidFill>
                  <a:srgbClr val="F5F1E8"/>
                </a:solidFill>
                <a:latin typeface="Calibri" pitchFamily="34" charset="0"/>
                <a:ea typeface="Calibri" pitchFamily="34" charset="-122"/>
                <a:cs typeface="Calibri" pitchFamily="34" charset="-120"/>
              </a:rPr>
              <a:t>MyFirstMonitor</a:t>
            </a:r>
            <a:endParaRPr lang="en-US" sz="3600" dirty="0"/>
          </a:p>
        </p:txBody>
      </p:sp>
      <p:sp>
        <p:nvSpPr>
          <p:cNvPr id="6" name="Text 3"/>
          <p:cNvSpPr txBox="1"/>
          <p:nvPr/>
        </p:nvSpPr>
        <p:spPr>
          <a:xfrm>
            <a:off x="812800" y="3873500"/>
            <a:ext cx="6223000" cy="635000"/>
          </a:xfrm>
          <a:prstGeom prst="rect">
            <a:avLst/>
          </a:prstGeom>
          <a:noFill/>
          <a:ln/>
        </p:spPr>
        <p:txBody>
          <a:bodyPr wrap="square" lIns="0" tIns="0" rIns="0" bIns="0" rtlCol="0" anchor="t"/>
          <a:lstStyle/>
          <a:p>
            <a:pPr algn="l" indent="0" marL="0">
              <a:lnSpc>
                <a:spcPct val="120000"/>
              </a:lnSpc>
              <a:buNone/>
            </a:pPr>
            <a:r>
              <a:rPr lang="en-US" sz="1600" dirty="0">
                <a:solidFill>
                  <a:srgbClr val="C9D6D8"/>
                </a:solidFill>
                <a:latin typeface="Calibri" pitchFamily="34" charset="0"/>
                <a:ea typeface="Calibri" pitchFamily="34" charset="-122"/>
                <a:cs typeface="Calibri" pitchFamily="34" charset="-120"/>
              </a:rPr>
              <a:t>Écrire « Bonjour ! Agashae » sur un petit écran OLED.</a:t>
            </a:r>
            <a:endParaRPr lang="en-US" sz="1600" dirty="0"/>
          </a:p>
        </p:txBody>
      </p:sp>
      <p:sp>
        <p:nvSpPr>
          <p:cNvPr id="7" name="Text 4"/>
          <p:cNvSpPr txBox="1"/>
          <p:nvPr/>
        </p:nvSpPr>
        <p:spPr>
          <a:xfrm>
            <a:off x="812800" y="4635500"/>
            <a:ext cx="6223000" cy="762000"/>
          </a:xfrm>
          <a:prstGeom prst="rect">
            <a:avLst/>
          </a:prstGeom>
          <a:noFill/>
          <a:ln/>
        </p:spPr>
        <p:txBody>
          <a:bodyPr wrap="square" lIns="0" tIns="0" rIns="0" bIns="0" rtlCol="0" anchor="t"/>
          <a:lstStyle/>
          <a:p>
            <a:pPr algn="l" indent="0" marL="0">
              <a:lnSpc>
                <a:spcPct val="105000"/>
              </a:lnSpc>
              <a:buNone/>
            </a:pPr>
            <a:r>
              <a:rPr lang="en-US" sz="1968" i="1" dirty="0">
                <a:solidFill>
                  <a:srgbClr val="F2A765"/>
                </a:solidFill>
                <a:latin typeface="Calibri" pitchFamily="34" charset="0"/>
                <a:ea typeface="Calibri" pitchFamily="34" charset="-122"/>
                <a:cs typeface="Calibri" pitchFamily="34" charset="-120"/>
              </a:rPr>
              <a:t>« rien à faire ici, le texte reste affiché en continu »</a:t>
            </a:r>
            <a:endParaRPr lang="en-US" sz="1968"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21</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4 · MYFIRSTMONITOR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montage : 4 fils en I2C</a:t>
            </a:r>
            <a:endParaRPr lang="en-US" sz="3200" dirty="0"/>
          </a:p>
        </p:txBody>
      </p:sp>
      <p:sp>
        <p:nvSpPr>
          <p:cNvPr id="5" name="Shape 3"/>
          <p:cNvSpPr/>
          <p:nvPr/>
        </p:nvSpPr>
        <p:spPr>
          <a:xfrm>
            <a:off x="812800" y="1854200"/>
            <a:ext cx="7010400" cy="1651000"/>
          </a:xfrm>
          <a:prstGeom prst="roundRect">
            <a:avLst>
              <a:gd name="adj" fmla="val 6154"/>
            </a:avLst>
          </a:prstGeom>
          <a:solidFill>
            <a:srgbClr val="FFFFFF"/>
          </a:solidFill>
          <a:ln w="9525">
            <a:solidFill>
              <a:srgbClr val="DDD5C4"/>
            </a:solidFill>
            <a:prstDash val="solid"/>
          </a:ln>
        </p:spPr>
      </p:sp>
      <p:pic>
        <p:nvPicPr>
          <p:cNvPr id="6" name="Image 0" descr="Schéma de l'écran relié à l'Arduino">    </p:cNvPr>
          <p:cNvPicPr>
            <a:picLocks noChangeAspect="1"/>
          </p:cNvPicPr>
          <p:nvPr/>
        </p:nvPicPr>
        <p:blipFill>
          <a:blip r:embed="rId1"/>
          <a:stretch>
            <a:fillRect/>
          </a:stretch>
        </p:blipFill>
        <p:spPr>
          <a:xfrm>
            <a:off x="3062229" y="1930400"/>
            <a:ext cx="2511543" cy="1498600"/>
          </a:xfrm>
          <a:prstGeom prst="rect">
            <a:avLst/>
          </a:prstGeom>
        </p:spPr>
      </p:pic>
      <p:sp>
        <p:nvSpPr>
          <p:cNvPr id="7" name="Text 4"/>
          <p:cNvSpPr txBox="1"/>
          <p:nvPr/>
        </p:nvSpPr>
        <p:spPr>
          <a:xfrm>
            <a:off x="812800" y="3581400"/>
            <a:ext cx="70104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Le schéma</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12800" y="3937000"/>
          <a:ext cx="7010400" cy="914400"/>
        </p:xfrm>
        <a:graphic>
          <a:graphicData uri="http://schemas.openxmlformats.org/drawingml/2006/table">
            <a:tbl>
              <a:tblPr/>
              <a:tblGrid>
                <a:gridCol w="2383536"/>
                <a:gridCol w="2313432"/>
                <a:gridCol w="2313432"/>
              </a:tblGrid>
              <a:tr h="0">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Broche de l'écran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Va sur l'Arduino</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300" b="1" dirty="0">
                          <a:solidFill>
                            <a:srgbClr val="3E4A52"/>
                          </a:solidFill>
                          <a:latin typeface="Calibri" pitchFamily="34" charset="0"/>
                          <a:ea typeface="Calibri" pitchFamily="34" charset="-122"/>
                          <a:cs typeface="Calibri" pitchFamily="34" charset="-120"/>
                        </a:rPr>
                        <a:t>Rôle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GND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GND</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la masse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VCC</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3,3 V ou 5 V</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l'alimentation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SDA</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A4</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les données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SCL</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A5</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300" dirty="0">
                          <a:solidFill>
                            <a:srgbClr val="3E4A52"/>
                          </a:solidFill>
                          <a:latin typeface="Calibri" pitchFamily="34" charset="0"/>
                          <a:ea typeface="Calibri" pitchFamily="34" charset="-122"/>
                          <a:cs typeface="Calibri" pitchFamily="34" charset="-120"/>
                        </a:rPr>
                        <a:t>l'horloge (le rythme)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bl>
          </a:graphicData>
        </a:graphic>
      </p:graphicFrame>
      <p:pic>
        <p:nvPicPr>
          <p:cNvPr id="9" name="Image 1" descr="Les 4 fils branchés sur l'Arduino">    </p:cNvPr>
          <p:cNvPicPr>
            <a:picLocks noChangeAspect="1"/>
          </p:cNvPicPr>
          <p:nvPr/>
        </p:nvPicPr>
        <p:blipFill>
          <a:blip r:embed="rId2"/>
          <a:stretch>
            <a:fillRect/>
          </a:stretch>
        </p:blipFill>
        <p:spPr>
          <a:xfrm>
            <a:off x="8077200" y="1854200"/>
            <a:ext cx="3302000" cy="3556000"/>
          </a:xfrm>
          <a:prstGeom prst="rect">
            <a:avLst/>
          </a:prstGeom>
        </p:spPr>
      </p:pic>
      <p:sp>
        <p:nvSpPr>
          <p:cNvPr id="10" name="Text 5"/>
          <p:cNvSpPr txBox="1"/>
          <p:nvPr/>
        </p:nvSpPr>
        <p:spPr>
          <a:xfrm>
            <a:off x="8077200" y="5486400"/>
            <a:ext cx="3302000" cy="215900"/>
          </a:xfrm>
          <a:prstGeom prst="rect">
            <a:avLst/>
          </a:prstGeom>
          <a:noFill/>
          <a:ln/>
        </p:spPr>
        <p:txBody>
          <a:bodyPr wrap="square" lIns="0" tIns="0" rIns="0" bIns="0" rtlCol="0" anchor="t"/>
          <a:lstStyle/>
          <a:p>
            <a:pPr algn="l" indent="0" marL="0">
              <a:lnSpc>
                <a:spcPct val="110000"/>
              </a:lnSpc>
              <a:buNone/>
            </a:pPr>
            <a:r>
              <a:rPr lang="en-US" sz="1200" dirty="0">
                <a:solidFill>
                  <a:srgbClr val="5E6A70"/>
                </a:solidFill>
                <a:latin typeface="Calibri" pitchFamily="34" charset="0"/>
                <a:ea typeface="Calibri" pitchFamily="34" charset="-122"/>
                <a:cs typeface="Calibri" pitchFamily="34" charset="-120"/>
              </a:rPr>
              <a:t>Mes 4 fils sur la carte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22</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4 · MYFIRSTMONITOR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Le code, ligne par ligne</a:t>
            </a:r>
            <a:endParaRPr lang="en-US" sz="3200" dirty="0"/>
          </a:p>
        </p:txBody>
      </p:sp>
      <p:sp>
        <p:nvSpPr>
          <p:cNvPr id="5" name="Shape 3"/>
          <p:cNvSpPr/>
          <p:nvPr/>
        </p:nvSpPr>
        <p:spPr>
          <a:xfrm>
            <a:off x="812800" y="1854200"/>
            <a:ext cx="5207000" cy="3181350"/>
          </a:xfrm>
          <a:prstGeom prst="roundRect">
            <a:avLst>
              <a:gd name="adj" fmla="val 3992"/>
            </a:avLst>
          </a:prstGeom>
          <a:solidFill>
            <a:srgbClr val="1C2E37"/>
          </a:solidFill>
          <a:ln/>
        </p:spPr>
      </p:sp>
      <p:sp>
        <p:nvSpPr>
          <p:cNvPr id="6" name="Text 4"/>
          <p:cNvSpPr txBox="1"/>
          <p:nvPr/>
        </p:nvSpPr>
        <p:spPr>
          <a:xfrm>
            <a:off x="1066800" y="2082800"/>
            <a:ext cx="4699000" cy="2724150"/>
          </a:xfrm>
          <a:prstGeom prst="rect">
            <a:avLst/>
          </a:prstGeom>
          <a:noFill/>
          <a:ln/>
        </p:spPr>
        <p:txBody>
          <a:bodyPr wrap="square" lIns="0" tIns="0" rIns="0" bIns="0" rtlCol="0" anchor="t"/>
          <a:lstStyle/>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#include</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&lt;Adafruit_SSD1306.h&gt;</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packet</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Adafruit_SSD1306 ecran(128, 64, &amp;Wire, -1);</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setup() {</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ecran.begin(SSD1306_SWITCHCAPVCC, 0x3C);</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ecran.clearDisplay();</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on efface</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ecran.setTextColor(1);</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texte allumé</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ecran.setTextSize(2);</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taille</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ecran.setCursor(10, 20);</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position</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ecran.print("Bonjour ! Agashae");</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ecran.display();</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affiche tout</a:t>
            </a:r>
            <a:endParaRPr lang="en-US" sz="1100" dirty="0"/>
          </a:p>
          <a:p>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a:t>
            </a:r>
            <a:endParaRPr lang="en-US" sz="1100" dirty="0"/>
          </a:p>
          <a:p>
            <a:pPr indent="0" marL="0">
              <a:lnSpc>
                <a:spcPct val="130000"/>
              </a:lnSpc>
              <a:buNone/>
            </a:pPr>
            <a:r>
              <a:rPr lang="en-US" sz="1100" dirty="0">
                <a:solidFill>
                  <a:srgbClr val="F2A765"/>
                </a:solidFill>
                <a:latin typeface="Courier New" pitchFamily="34" charset="0"/>
                <a:ea typeface="Courier New" pitchFamily="34" charset="-122"/>
                <a:cs typeface="Courier New" pitchFamily="34" charset="-120"/>
              </a:rPr>
              <a:t>void</a:t>
            </a:r>
            <a:pPr indent="0" marL="0">
              <a:lnSpc>
                <a:spcPct val="130000"/>
              </a:lnSpc>
              <a:buNone/>
            </a:pPr>
            <a:r>
              <a:rPr lang="en-US" sz="1100" dirty="0">
                <a:solidFill>
                  <a:srgbClr val="EDE7DA"/>
                </a:solidFill>
                <a:latin typeface="Courier New" pitchFamily="34" charset="0"/>
                <a:ea typeface="Courier New" pitchFamily="34" charset="-122"/>
                <a:cs typeface="Courier New" pitchFamily="34" charset="-120"/>
              </a:rPr>
              <a:t> loop() { }</a:t>
            </a:r>
            <a:pPr indent="0" marL="0">
              <a:lnSpc>
                <a:spcPct val="130000"/>
              </a:lnSpc>
              <a:buNone/>
            </a:pPr>
            <a:r>
              <a:rPr lang="en-US" sz="1100" dirty="0">
                <a:solidFill>
                  <a:srgbClr val="86C9C4"/>
                </a:solidFill>
                <a:latin typeface="Courier New" pitchFamily="34" charset="0"/>
                <a:ea typeface="Courier New" pitchFamily="34" charset="-122"/>
                <a:cs typeface="Courier New" pitchFamily="34" charset="-120"/>
              </a:rPr>
              <a:t>  // rien à faire ici</a:t>
            </a:r>
            <a:endParaRPr lang="en-US" sz="1100" dirty="0"/>
          </a:p>
        </p:txBody>
      </p:sp>
      <p:sp>
        <p:nvSpPr>
          <p:cNvPr id="7" name="Shape 5"/>
          <p:cNvSpPr/>
          <p:nvPr/>
        </p:nvSpPr>
        <p:spPr>
          <a:xfrm>
            <a:off x="6273800" y="1854200"/>
            <a:ext cx="304800" cy="304800"/>
          </a:xfrm>
          <a:prstGeom prst="ellipse">
            <a:avLst/>
          </a:prstGeom>
          <a:solidFill>
            <a:srgbClr val="086A70"/>
          </a:solidFill>
          <a:ln/>
        </p:spPr>
      </p:sp>
      <p:sp>
        <p:nvSpPr>
          <p:cNvPr id="8" name="Text 6"/>
          <p:cNvSpPr txBox="1"/>
          <p:nvPr/>
        </p:nvSpPr>
        <p:spPr>
          <a:xfrm>
            <a:off x="62738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705600" y="18796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ecran(128, 64, &amp;Wire, -1)</a:t>
            </a:r>
            <a:endParaRPr lang="en-US" sz="1200" dirty="0"/>
          </a:p>
        </p:txBody>
      </p:sp>
      <p:sp>
        <p:nvSpPr>
          <p:cNvPr id="10" name="Text 8"/>
          <p:cNvSpPr txBox="1"/>
          <p:nvPr/>
        </p:nvSpPr>
        <p:spPr>
          <a:xfrm>
            <a:off x="6705600" y="21209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Taille 128 × 64 pixels, on parle en I2C (</a:t>
            </a:r>
            <a:pPr algn="l" indent="0" marL="0">
              <a:lnSpc>
                <a:spcPct val="120000"/>
              </a:lnSpc>
              <a:buNone/>
            </a:pPr>
            <a:r>
              <a:rPr lang="en-US" sz="1200" i="1" dirty="0">
                <a:solidFill>
                  <a:srgbClr val="3E4A52"/>
                </a:solidFill>
                <a:latin typeface="Calibri" pitchFamily="34" charset="0"/>
                <a:ea typeface="Calibri" pitchFamily="34" charset="-122"/>
                <a:cs typeface="Calibri" pitchFamily="34" charset="-120"/>
              </a:rPr>
              <a:t>&amp;Wire</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-1 = « pas de fil RESET ».</a:t>
            </a:r>
            <a:endParaRPr lang="en-US" sz="1200" dirty="0"/>
          </a:p>
        </p:txBody>
      </p:sp>
      <p:sp>
        <p:nvSpPr>
          <p:cNvPr id="11" name="Shape 9"/>
          <p:cNvSpPr/>
          <p:nvPr/>
        </p:nvSpPr>
        <p:spPr>
          <a:xfrm>
            <a:off x="6273800" y="2679700"/>
            <a:ext cx="304800" cy="304800"/>
          </a:xfrm>
          <a:prstGeom prst="ellipse">
            <a:avLst/>
          </a:prstGeom>
          <a:solidFill>
            <a:srgbClr val="086A70"/>
          </a:solidFill>
          <a:ln/>
        </p:spPr>
      </p:sp>
      <p:sp>
        <p:nvSpPr>
          <p:cNvPr id="12" name="Text 10"/>
          <p:cNvSpPr txBox="1"/>
          <p:nvPr/>
        </p:nvSpPr>
        <p:spPr>
          <a:xfrm>
            <a:off x="6273800" y="2679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705600" y="27051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begin(…, 0x3C)</a:t>
            </a:r>
            <a:endParaRPr lang="en-US" sz="1200" dirty="0"/>
          </a:p>
        </p:txBody>
      </p:sp>
      <p:sp>
        <p:nvSpPr>
          <p:cNvPr id="14" name="Text 12"/>
          <p:cNvSpPr txBox="1"/>
          <p:nvPr/>
        </p:nvSpPr>
        <p:spPr>
          <a:xfrm>
            <a:off x="6705600" y="29464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Démarre l'écran à l'adresse I2C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0x3C</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6273800" y="3505200"/>
            <a:ext cx="304800" cy="304800"/>
          </a:xfrm>
          <a:prstGeom prst="ellipse">
            <a:avLst/>
          </a:prstGeom>
          <a:solidFill>
            <a:srgbClr val="086A70"/>
          </a:solidFill>
          <a:ln/>
        </p:spPr>
      </p:sp>
      <p:sp>
        <p:nvSpPr>
          <p:cNvPr id="16" name="Text 14"/>
          <p:cNvSpPr txBox="1"/>
          <p:nvPr/>
        </p:nvSpPr>
        <p:spPr>
          <a:xfrm>
            <a:off x="6273800" y="3505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705600" y="35306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setTextSize / setCursor / print</a:t>
            </a:r>
            <a:endParaRPr lang="en-US" sz="1200" dirty="0"/>
          </a:p>
        </p:txBody>
      </p:sp>
      <p:sp>
        <p:nvSpPr>
          <p:cNvPr id="18" name="Text 16"/>
          <p:cNvSpPr txBox="1"/>
          <p:nvPr/>
        </p:nvSpPr>
        <p:spPr>
          <a:xfrm>
            <a:off x="6705600" y="37719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On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prépare</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 taille, position, texte.</a:t>
            </a:r>
            <a:endParaRPr lang="en-US" sz="1200" dirty="0"/>
          </a:p>
        </p:txBody>
      </p:sp>
      <p:sp>
        <p:nvSpPr>
          <p:cNvPr id="19" name="Shape 17"/>
          <p:cNvSpPr/>
          <p:nvPr/>
        </p:nvSpPr>
        <p:spPr>
          <a:xfrm>
            <a:off x="6273800" y="4330700"/>
            <a:ext cx="304800" cy="304800"/>
          </a:xfrm>
          <a:prstGeom prst="ellipse">
            <a:avLst/>
          </a:prstGeom>
          <a:solidFill>
            <a:srgbClr val="086A70"/>
          </a:solidFill>
          <a:ln/>
        </p:spPr>
      </p:sp>
      <p:sp>
        <p:nvSpPr>
          <p:cNvPr id="20" name="Text 18"/>
          <p:cNvSpPr txBox="1"/>
          <p:nvPr/>
        </p:nvSpPr>
        <p:spPr>
          <a:xfrm>
            <a:off x="6273800" y="4330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705600" y="4356100"/>
            <a:ext cx="46736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display()</a:t>
            </a:r>
            <a:endParaRPr lang="en-US" sz="1200" dirty="0"/>
          </a:p>
        </p:txBody>
      </p:sp>
      <p:sp>
        <p:nvSpPr>
          <p:cNvPr id="22" name="Text 20"/>
          <p:cNvSpPr txBox="1"/>
          <p:nvPr/>
        </p:nvSpPr>
        <p:spPr>
          <a:xfrm>
            <a:off x="6705600" y="4597400"/>
            <a:ext cx="46736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Et là seulement, tout apparaît à l'écran.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23</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PROJET 4 · MYFIRSTMONITOR</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Où s'écrit le texte sur l'écran ?</a:t>
            </a:r>
            <a:endParaRPr lang="en-US" sz="3200" dirty="0"/>
          </a:p>
        </p:txBody>
      </p:sp>
      <p:pic>
        <p:nvPicPr>
          <p:cNvPr id="5" name="Image 0" descr="Grille de l'écran 128 par 64 pixels, avec le curseur en x=10, y=20">    </p:cNvPr>
          <p:cNvPicPr>
            <a:picLocks noChangeAspect="1"/>
          </p:cNvPicPr>
          <p:nvPr/>
        </p:nvPicPr>
        <p:blipFill>
          <a:blip r:embed="rId1"/>
          <a:stretch>
            <a:fillRect/>
          </a:stretch>
        </p:blipFill>
        <p:spPr>
          <a:xfrm>
            <a:off x="812800" y="1854200"/>
            <a:ext cx="5130800" cy="2692400"/>
          </a:xfrm>
          <a:prstGeom prst="rect">
            <a:avLst/>
          </a:prstGeom>
        </p:spPr>
      </p:pic>
      <p:sp>
        <p:nvSpPr>
          <p:cNvPr id="6" name="Text 3"/>
          <p:cNvSpPr txBox="1"/>
          <p:nvPr/>
        </p:nvSpPr>
        <p:spPr>
          <a:xfrm>
            <a:off x="1397000" y="2463800"/>
            <a:ext cx="2032000" cy="215900"/>
          </a:xfrm>
          <a:prstGeom prst="rect">
            <a:avLst/>
          </a:prstGeom>
          <a:noFill/>
          <a:ln/>
        </p:spPr>
        <p:txBody>
          <a:bodyPr wrap="square" lIns="0" tIns="0" rIns="0" bIns="0" rtlCol="0" anchor="t"/>
          <a:lstStyle/>
          <a:p>
            <a:pPr algn="l" indent="0" marL="0">
              <a:lnSpc>
                <a:spcPct val="110000"/>
              </a:lnSpc>
              <a:buNone/>
            </a:pPr>
            <a:r>
              <a:rPr lang="en-US" sz="1200" b="1" dirty="0">
                <a:solidFill>
                  <a:srgbClr val="F2A765"/>
                </a:solidFill>
                <a:latin typeface="Calibri" pitchFamily="34" charset="0"/>
                <a:ea typeface="Calibri" pitchFamily="34" charset="-122"/>
                <a:cs typeface="Calibri" pitchFamily="34" charset="-120"/>
              </a:rPr>
              <a:t>(10, 20)</a:t>
            </a:r>
            <a:endParaRPr lang="en-US" sz="1200" dirty="0"/>
          </a:p>
        </p:txBody>
      </p:sp>
      <p:sp>
        <p:nvSpPr>
          <p:cNvPr id="7" name="Shape 4"/>
          <p:cNvSpPr/>
          <p:nvPr/>
        </p:nvSpPr>
        <p:spPr>
          <a:xfrm>
            <a:off x="6248400" y="1854200"/>
            <a:ext cx="304800" cy="304800"/>
          </a:xfrm>
          <a:prstGeom prst="ellipse">
            <a:avLst/>
          </a:prstGeom>
          <a:solidFill>
            <a:srgbClr val="086A70"/>
          </a:solidFill>
          <a:ln/>
        </p:spPr>
      </p:sp>
      <p:sp>
        <p:nvSpPr>
          <p:cNvPr id="8" name="Text 5"/>
          <p:cNvSpPr txBox="1"/>
          <p:nvPr/>
        </p:nvSpPr>
        <p:spPr>
          <a:xfrm>
            <a:off x="6248400" y="1854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6680200" y="1879600"/>
            <a:ext cx="46990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(0, 0) = en haut à gauche</a:t>
            </a:r>
            <a:endParaRPr lang="en-US" sz="1200" dirty="0"/>
          </a:p>
        </p:txBody>
      </p:sp>
      <p:sp>
        <p:nvSpPr>
          <p:cNvPr id="10" name="Text 7"/>
          <p:cNvSpPr txBox="1"/>
          <p:nvPr/>
        </p:nvSpPr>
        <p:spPr>
          <a:xfrm>
            <a:off x="6680200" y="2120900"/>
            <a:ext cx="46990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x va vers la droite (0 à 127), y va vers le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bas</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(0 à 63).</a:t>
            </a:r>
            <a:endParaRPr lang="en-US" sz="1200" dirty="0"/>
          </a:p>
        </p:txBody>
      </p:sp>
      <p:sp>
        <p:nvSpPr>
          <p:cNvPr id="11" name="Shape 8"/>
          <p:cNvSpPr/>
          <p:nvPr/>
        </p:nvSpPr>
        <p:spPr>
          <a:xfrm>
            <a:off x="6248400" y="2679700"/>
            <a:ext cx="304800" cy="304800"/>
          </a:xfrm>
          <a:prstGeom prst="ellipse">
            <a:avLst/>
          </a:prstGeom>
          <a:solidFill>
            <a:srgbClr val="E8833A"/>
          </a:solidFill>
          <a:ln/>
        </p:spPr>
      </p:sp>
      <p:sp>
        <p:nvSpPr>
          <p:cNvPr id="12" name="Text 9"/>
          <p:cNvSpPr txBox="1"/>
          <p:nvPr/>
        </p:nvSpPr>
        <p:spPr>
          <a:xfrm>
            <a:off x="6248400" y="2679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6680200" y="2705100"/>
            <a:ext cx="46990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setCursor(10, 20)</a:t>
            </a:r>
            <a:endParaRPr lang="en-US" sz="1200" dirty="0"/>
          </a:p>
        </p:txBody>
      </p:sp>
      <p:sp>
        <p:nvSpPr>
          <p:cNvPr id="14" name="Text 11"/>
          <p:cNvSpPr txBox="1"/>
          <p:nvPr/>
        </p:nvSpPr>
        <p:spPr>
          <a:xfrm>
            <a:off x="6680200" y="2946400"/>
            <a:ext cx="46990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Le texte commence au point orange.</a:t>
            </a:r>
            <a:endParaRPr lang="en-US" sz="1200" dirty="0"/>
          </a:p>
        </p:txBody>
      </p:sp>
      <p:sp>
        <p:nvSpPr>
          <p:cNvPr id="15" name="Shape 12"/>
          <p:cNvSpPr/>
          <p:nvPr/>
        </p:nvSpPr>
        <p:spPr>
          <a:xfrm>
            <a:off x="6248400" y="3505200"/>
            <a:ext cx="304800" cy="304800"/>
          </a:xfrm>
          <a:prstGeom prst="ellipse">
            <a:avLst/>
          </a:prstGeom>
          <a:solidFill>
            <a:srgbClr val="086A70"/>
          </a:solidFill>
          <a:ln/>
        </p:spPr>
      </p:sp>
      <p:sp>
        <p:nvSpPr>
          <p:cNvPr id="16" name="Text 13"/>
          <p:cNvSpPr txBox="1"/>
          <p:nvPr/>
        </p:nvSpPr>
        <p:spPr>
          <a:xfrm>
            <a:off x="6248400" y="35052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3</a:t>
            </a:r>
            <a:endParaRPr lang="en-US" sz="1300" dirty="0"/>
          </a:p>
        </p:txBody>
      </p:sp>
      <p:sp>
        <p:nvSpPr>
          <p:cNvPr id="17" name="Text 14"/>
          <p:cNvSpPr txBox="1"/>
          <p:nvPr/>
        </p:nvSpPr>
        <p:spPr>
          <a:xfrm>
            <a:off x="6680200" y="3530600"/>
            <a:ext cx="46990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setTextSize(2)</a:t>
            </a:r>
            <a:endParaRPr lang="en-US" sz="1200" dirty="0"/>
          </a:p>
        </p:txBody>
      </p:sp>
      <p:sp>
        <p:nvSpPr>
          <p:cNvPr id="18" name="Text 15"/>
          <p:cNvSpPr txBox="1"/>
          <p:nvPr/>
        </p:nvSpPr>
        <p:spPr>
          <a:xfrm>
            <a:off x="6680200" y="3771900"/>
            <a:ext cx="46990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Chaque lettre fait 12 × 16 pixels.</a:t>
            </a:r>
            <a:endParaRPr lang="en-US" sz="1200" dirty="0"/>
          </a:p>
        </p:txBody>
      </p:sp>
      <p:sp>
        <p:nvSpPr>
          <p:cNvPr id="19" name="Shape 16"/>
          <p:cNvSpPr/>
          <p:nvPr/>
        </p:nvSpPr>
        <p:spPr>
          <a:xfrm>
            <a:off x="6248400" y="4330700"/>
            <a:ext cx="304800" cy="304800"/>
          </a:xfrm>
          <a:prstGeom prst="ellipse">
            <a:avLst/>
          </a:prstGeom>
          <a:solidFill>
            <a:srgbClr val="086A70"/>
          </a:solidFill>
          <a:ln/>
        </p:spPr>
      </p:sp>
      <p:sp>
        <p:nvSpPr>
          <p:cNvPr id="20" name="Text 17"/>
          <p:cNvSpPr txBox="1"/>
          <p:nvPr/>
        </p:nvSpPr>
        <p:spPr>
          <a:xfrm>
            <a:off x="6248400" y="4330700"/>
            <a:ext cx="304800" cy="304800"/>
          </a:xfrm>
          <a:prstGeom prst="rect">
            <a:avLst/>
          </a:prstGeom>
          <a:noFill/>
          <a:ln/>
        </p:spPr>
        <p:txBody>
          <a:bodyPr wrap="square" lIns="0" tIns="0" rIns="0" bIns="0" rtlCol="0" anchor="ctr"/>
          <a:lstStyle/>
          <a:p>
            <a:pPr algn="ctr" indent="0" marL="0">
              <a:lnSpc>
                <a:spcPct val="110000"/>
              </a:lnSpc>
              <a:buNone/>
            </a:pPr>
            <a:r>
              <a:rPr lang="en-US" sz="1300" b="1" dirty="0">
                <a:solidFill>
                  <a:srgbClr val="F5F1E8"/>
                </a:solidFill>
                <a:latin typeface="Calibri" pitchFamily="34" charset="0"/>
                <a:ea typeface="Calibri" pitchFamily="34" charset="-122"/>
                <a:cs typeface="Calibri" pitchFamily="34" charset="-120"/>
              </a:rPr>
              <a:t>4</a:t>
            </a:r>
            <a:endParaRPr lang="en-US" sz="1300" dirty="0"/>
          </a:p>
        </p:txBody>
      </p:sp>
      <p:sp>
        <p:nvSpPr>
          <p:cNvPr id="21" name="Text 18"/>
          <p:cNvSpPr txBox="1"/>
          <p:nvPr/>
        </p:nvSpPr>
        <p:spPr>
          <a:xfrm>
            <a:off x="6680200" y="4356100"/>
            <a:ext cx="4699000" cy="215900"/>
          </a:xfrm>
          <a:prstGeom prst="rect">
            <a:avLst/>
          </a:prstGeom>
          <a:noFill/>
          <a:ln/>
        </p:spPr>
        <p:txBody>
          <a:bodyPr wrap="square" lIns="0" tIns="0" rIns="0" bIns="0" rtlCol="0" anchor="t"/>
          <a:lstStyle/>
          <a:p>
            <a:pPr algn="l" indent="0" marL="0">
              <a:lnSpc>
                <a:spcPct val="110000"/>
              </a:lnSpc>
              <a:buNone/>
            </a:pPr>
            <a:r>
              <a:rPr lang="en-US" sz="1200" b="1" dirty="0">
                <a:solidFill>
                  <a:srgbClr val="16252D"/>
                </a:solidFill>
                <a:latin typeface="Courier New" pitchFamily="34" charset="0"/>
                <a:ea typeface="Courier New" pitchFamily="34" charset="-122"/>
                <a:cs typeface="Courier New" pitchFamily="34" charset="-120"/>
              </a:rPr>
              <a:t>17 caractères × 12 = 204 px</a:t>
            </a:r>
            <a:endParaRPr lang="en-US" sz="1200" dirty="0"/>
          </a:p>
        </p:txBody>
      </p:sp>
      <p:sp>
        <p:nvSpPr>
          <p:cNvPr id="22" name="Text 19"/>
          <p:cNvSpPr txBox="1"/>
          <p:nvPr/>
        </p:nvSpPr>
        <p:spPr>
          <a:xfrm>
            <a:off x="6680200" y="4597400"/>
            <a:ext cx="4699000" cy="431800"/>
          </a:xfrm>
          <a:prstGeom prst="rect">
            <a:avLst/>
          </a:prstGeom>
          <a:noFill/>
          <a:ln/>
        </p:spPr>
        <p:txBody>
          <a:bodyPr wrap="square" lIns="0" tIns="0" rIns="0" bIns="0" rtlCol="0" anchor="t"/>
          <a:lstStyle/>
          <a:p>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Plus large que 128 px : le texte </a:t>
            </a:r>
            <a:pPr algn="l" indent="0" marL="0">
              <a:lnSpc>
                <a:spcPct val="120000"/>
              </a:lnSpc>
              <a:buNone/>
            </a:pPr>
            <a:r>
              <a:rPr lang="en-US" sz="1200" b="1" dirty="0">
                <a:solidFill>
                  <a:srgbClr val="3E4A52"/>
                </a:solidFill>
                <a:latin typeface="Calibri" pitchFamily="34" charset="0"/>
                <a:ea typeface="Calibri" pitchFamily="34" charset="-122"/>
                <a:cs typeface="Calibri" pitchFamily="34" charset="-120"/>
              </a:rPr>
              <a:t>passe à la ligne tout seul</a:t>
            </a:r>
            <a:pPr algn="l" indent="0" marL="0">
              <a:lnSpc>
                <a:spcPct val="120000"/>
              </a:lnSpc>
              <a:buNone/>
            </a:pPr>
            <a:r>
              <a:rPr lang="en-US" sz="1200" dirty="0">
                <a:solidFill>
                  <a:srgbClr val="3E4A52"/>
                </a:solidFill>
                <a:latin typeface="Calibri" pitchFamily="34" charset="0"/>
                <a:ea typeface="Calibri" pitchFamily="34" charset="-122"/>
                <a:cs typeface="Calibri" pitchFamily="34" charset="-120"/>
              </a:rPr>
              <a:t> (comme sur ma photo).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24</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RÉCAP</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Mon mémo des instructions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12800" y="1854200"/>
          <a:ext cx="10566400" cy="914400"/>
        </p:xfrm>
        <a:graphic>
          <a:graphicData uri="http://schemas.openxmlformats.org/drawingml/2006/table">
            <a:tbl>
              <a:tblPr/>
              <a:tblGrid>
                <a:gridCol w="4649216"/>
                <a:gridCol w="4649216"/>
                <a:gridCol w="1267968"/>
              </a:tblGrid>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Instruction</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Ce que ça fait (en bref)</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Projet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E6DFD0"/>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pinMode(broche, OUTPUT)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la broche envoie du courant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1, 2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pinMode(broche, INPUT_PULLUP)</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la broche lit, HIGH par défaut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digitalWrite(broche, HIGH/LOW)</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allumer (5 V) / éteindre (0 V)</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1, 2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digitalRead(broche)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lire HIGH ou LOW</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delay(ms)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attendre, en millisecondes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1, 3</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if / else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choisir quoi faire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2</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for (départ; tant que; pas)</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répéter en comptant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3</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#include &lt;…&gt;</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importer une bibliothèque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3, 4</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myservo.attach / write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brancher / tourner le servo</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3</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FFDF8"/>
                    </a:solidFill>
                  </a:tcPr>
                </a:tc>
              </a:tr>
              <a:tr h="0">
                <a:tc>
                  <a:txBody>
                    <a:bodyPr/>
                    <a:lstStyle/>
                    <a:p>
                      <a:pPr indent="0" marL="0">
                        <a:buNone/>
                      </a:pPr>
                      <a:r>
                        <a:rPr lang="en-US" sz="1200" b="1" dirty="0">
                          <a:solidFill>
                            <a:srgbClr val="3E4A52"/>
                          </a:solidFill>
                          <a:latin typeface="Calibri" pitchFamily="34" charset="0"/>
                          <a:ea typeface="Calibri" pitchFamily="34" charset="-122"/>
                          <a:cs typeface="Calibri" pitchFamily="34" charset="-120"/>
                        </a:rPr>
                        <a:t>ecran.print / display</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préparer / afficher le texte</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c>
                  <a:txBody>
                    <a:bodyPr/>
                    <a:lstStyle/>
                    <a:p>
                      <a:pPr indent="0" marL="0">
                        <a:buNone/>
                      </a:pPr>
                      <a:r>
                        <a:rPr lang="en-US" sz="1200" dirty="0">
                          <a:solidFill>
                            <a:srgbClr val="3E4A52"/>
                          </a:solidFill>
                          <a:latin typeface="Calibri" pitchFamily="34" charset="0"/>
                          <a:ea typeface="Calibri" pitchFamily="34" charset="-122"/>
                          <a:cs typeface="Calibri" pitchFamily="34" charset="-120"/>
                        </a:rPr>
                        <a:t>4</a:t>
                      </a:r>
                      <a:endParaRPr lang="en-US" sz="1200" dirty="0"/>
                    </a:p>
                  </a:txBody>
                  <a:tcPr marL="88900" marR="88900" marT="63500" marB="63500" anchor="ctr">
                    <a:lnL w="9525" cap="flat" cmpd="sng" algn="ctr">
                      <a:solidFill>
                        <a:srgbClr val="DDD5C4"/>
                      </a:solidFill>
                      <a:prstDash val="solid"/>
                      <a:round/>
                      <a:headEnd type="none" w="med" len="med"/>
                      <a:tailEnd type="none" w="med" len="med"/>
                    </a:lnL>
                    <a:lnR w="9525" cap="flat" cmpd="sng" algn="ctr">
                      <a:solidFill>
                        <a:srgbClr val="DDD5C4"/>
                      </a:solidFill>
                      <a:prstDash val="solid"/>
                      <a:round/>
                      <a:headEnd type="none" w="med" len="med"/>
                      <a:tailEnd type="none" w="med" len="med"/>
                    </a:lnR>
                    <a:lnT w="9525" cap="flat" cmpd="sng" algn="ctr">
                      <a:solidFill>
                        <a:srgbClr val="DDD5C4"/>
                      </a:solidFill>
                      <a:prstDash val="solid"/>
                      <a:round/>
                      <a:headEnd type="none" w="med" len="med"/>
                      <a:tailEnd type="none" w="med" len="med"/>
                    </a:lnT>
                    <a:lnB w="9525" cap="flat" cmpd="sng" algn="ctr">
                      <a:solidFill>
                        <a:srgbClr val="DDD5C4"/>
                      </a:solidFill>
                      <a:prstDash val="solid"/>
                      <a:round/>
                      <a:headEnd type="none" w="med" len="med"/>
                      <a:tailEnd type="none" w="med" len="med"/>
                    </a:lnB>
                    <a:solidFill>
                      <a:srgbClr val="F5F1E8"/>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25</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RÉCAP</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Petits pièges repérés dans mes fichiers</a:t>
            </a:r>
            <a:endParaRPr lang="en-US" sz="3200" dirty="0"/>
          </a:p>
        </p:txBody>
      </p:sp>
      <p:sp>
        <p:nvSpPr>
          <p:cNvPr id="5" name="Shape 3"/>
          <p:cNvSpPr/>
          <p:nvPr/>
        </p:nvSpPr>
        <p:spPr>
          <a:xfrm>
            <a:off x="812800" y="1854200"/>
            <a:ext cx="5194300" cy="1841500"/>
          </a:xfrm>
          <a:prstGeom prst="roundRect">
            <a:avLst>
              <a:gd name="adj" fmla="val 6897"/>
            </a:avLst>
          </a:prstGeom>
          <a:solidFill>
            <a:srgbClr val="FFFDF8"/>
          </a:solidFill>
          <a:ln w="9525">
            <a:solidFill>
              <a:srgbClr val="DDD5C4"/>
            </a:solidFill>
            <a:prstDash val="solid"/>
          </a:ln>
        </p:spPr>
      </p:sp>
      <p:sp>
        <p:nvSpPr>
          <p:cNvPr id="6" name="Text 4"/>
          <p:cNvSpPr txBox="1"/>
          <p:nvPr/>
        </p:nvSpPr>
        <p:spPr>
          <a:xfrm>
            <a:off x="1041400" y="20574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9A4712"/>
                </a:solidFill>
                <a:latin typeface="Calibri" pitchFamily="34" charset="0"/>
                <a:ea typeface="Calibri" pitchFamily="34" charset="-122"/>
                <a:cs typeface="Calibri" pitchFamily="34" charset="-120"/>
              </a:rPr>
              <a:t>MyFirstServomotor.ino</a:t>
            </a:r>
            <a:endParaRPr lang="en-US" sz="1600" dirty="0"/>
          </a:p>
        </p:txBody>
      </p:sp>
      <p:sp>
        <p:nvSpPr>
          <p:cNvPr id="7" name="Text 5"/>
          <p:cNvSpPr txBox="1"/>
          <p:nvPr/>
        </p:nvSpPr>
        <p:spPr>
          <a:xfrm>
            <a:off x="1041400" y="2413000"/>
            <a:ext cx="4737100" cy="10795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Il manque la dernière </a:t>
            </a:r>
            <a:pPr algn="l" indent="0" marL="0">
              <a:lnSpc>
                <a:spcPct val="125000"/>
              </a:lnSpc>
              <a:buNone/>
            </a:pPr>
            <a:r>
              <a:rPr lang="en-US" sz="1300" b="1" dirty="0">
                <a:solidFill>
                  <a:srgbClr val="3E4A52"/>
                </a:solidFill>
                <a:latin typeface="Calibri" pitchFamily="34" charset="0"/>
                <a:ea typeface="Calibri" pitchFamily="34" charset="-122"/>
                <a:cs typeface="Calibri" pitchFamily="34" charset="-120"/>
              </a:rPr>
              <a:t>}</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qui ferme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loop()</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4 accolades ouvertes, 3 fermées. Le fichier sur GitHub ne compile pas tel quel.</a:t>
            </a:r>
            <a:endParaRPr lang="en-US" sz="1300" dirty="0"/>
          </a:p>
        </p:txBody>
      </p:sp>
      <p:sp>
        <p:nvSpPr>
          <p:cNvPr id="8" name="Shape 6"/>
          <p:cNvSpPr/>
          <p:nvPr/>
        </p:nvSpPr>
        <p:spPr>
          <a:xfrm>
            <a:off x="6184900" y="1854200"/>
            <a:ext cx="5194300" cy="1841500"/>
          </a:xfrm>
          <a:prstGeom prst="roundRect">
            <a:avLst>
              <a:gd name="adj" fmla="val 6897"/>
            </a:avLst>
          </a:prstGeom>
          <a:solidFill>
            <a:srgbClr val="FFFDF8"/>
          </a:solidFill>
          <a:ln w="9525">
            <a:solidFill>
              <a:srgbClr val="DDD5C4"/>
            </a:solidFill>
            <a:prstDash val="solid"/>
          </a:ln>
        </p:spPr>
      </p:sp>
      <p:sp>
        <p:nvSpPr>
          <p:cNvPr id="9" name="Text 7"/>
          <p:cNvSpPr txBox="1"/>
          <p:nvPr/>
        </p:nvSpPr>
        <p:spPr>
          <a:xfrm>
            <a:off x="6413500" y="20574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9A4712"/>
                </a:solidFill>
                <a:latin typeface="Calibri" pitchFamily="34" charset="0"/>
                <a:ea typeface="Calibri" pitchFamily="34" charset="-122"/>
                <a:cs typeface="Calibri" pitchFamily="34" charset="-120"/>
              </a:rPr>
              <a:t>Mon carnet (void loop)</a:t>
            </a:r>
            <a:endParaRPr lang="en-US" sz="1600" dirty="0"/>
          </a:p>
        </p:txBody>
      </p:sp>
      <p:sp>
        <p:nvSpPr>
          <p:cNvPr id="10" name="Text 8"/>
          <p:cNvSpPr txBox="1"/>
          <p:nvPr/>
        </p:nvSpPr>
        <p:spPr>
          <a:xfrm>
            <a:off x="6413500" y="2413000"/>
            <a:ext cx="4737100" cy="10795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Après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digitalWrite(led, 0)</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il n'y a pas de 2e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delay</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 la LED s'éteint si vite qu'on la croit toujours allumée. MyFirstLed.ino l'a bien, lui.</a:t>
            </a:r>
            <a:endParaRPr lang="en-US" sz="1300" dirty="0"/>
          </a:p>
        </p:txBody>
      </p:sp>
      <p:sp>
        <p:nvSpPr>
          <p:cNvPr id="11" name="Shape 9"/>
          <p:cNvSpPr/>
          <p:nvPr/>
        </p:nvSpPr>
        <p:spPr>
          <a:xfrm>
            <a:off x="812800" y="3873500"/>
            <a:ext cx="5194300" cy="1841500"/>
          </a:xfrm>
          <a:prstGeom prst="roundRect">
            <a:avLst>
              <a:gd name="adj" fmla="val 6897"/>
            </a:avLst>
          </a:prstGeom>
          <a:solidFill>
            <a:srgbClr val="FFFDF8"/>
          </a:solidFill>
          <a:ln w="9525">
            <a:solidFill>
              <a:srgbClr val="DDD5C4"/>
            </a:solidFill>
            <a:prstDash val="solid"/>
          </a:ln>
        </p:spPr>
      </p:sp>
      <p:sp>
        <p:nvSpPr>
          <p:cNvPr id="12" name="Text 10"/>
          <p:cNvSpPr txBox="1"/>
          <p:nvPr/>
        </p:nvSpPr>
        <p:spPr>
          <a:xfrm>
            <a:off x="1041400" y="40767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086A70"/>
                </a:solidFill>
                <a:latin typeface="Calibri" pitchFamily="34" charset="0"/>
                <a:ea typeface="Calibri" pitchFamily="34" charset="-122"/>
                <a:cs typeface="Calibri" pitchFamily="34" charset="-120"/>
              </a:rPr>
              <a:t>MyFirstLedWithButton.ino</a:t>
            </a:r>
            <a:endParaRPr lang="en-US" sz="1600" dirty="0"/>
          </a:p>
        </p:txBody>
      </p:sp>
      <p:sp>
        <p:nvSpPr>
          <p:cNvPr id="13" name="Text 11"/>
          <p:cNvSpPr txBox="1"/>
          <p:nvPr/>
        </p:nvSpPr>
        <p:spPr>
          <a:xfrm>
            <a:off x="1041400" y="4432300"/>
            <a:ext cx="4737100" cy="10795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J'écris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digitalRead(2)</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et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digitalWrite(13, …)</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au lieu de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button</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et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led</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Ça marche, mais avec les variables je n'aurais qu'un endroit à changer.</a:t>
            </a:r>
            <a:endParaRPr lang="en-US" sz="1300" dirty="0"/>
          </a:p>
        </p:txBody>
      </p:sp>
      <p:sp>
        <p:nvSpPr>
          <p:cNvPr id="14" name="Shape 12"/>
          <p:cNvSpPr/>
          <p:nvPr/>
        </p:nvSpPr>
        <p:spPr>
          <a:xfrm>
            <a:off x="6184900" y="3873500"/>
            <a:ext cx="5194300" cy="1841500"/>
          </a:xfrm>
          <a:prstGeom prst="roundRect">
            <a:avLst>
              <a:gd name="adj" fmla="val 6897"/>
            </a:avLst>
          </a:prstGeom>
          <a:solidFill>
            <a:srgbClr val="FFFDF8"/>
          </a:solidFill>
          <a:ln w="9525">
            <a:solidFill>
              <a:srgbClr val="DDD5C4"/>
            </a:solidFill>
            <a:prstDash val="solid"/>
          </a:ln>
        </p:spPr>
      </p:sp>
      <p:sp>
        <p:nvSpPr>
          <p:cNvPr id="15" name="Text 13"/>
          <p:cNvSpPr txBox="1"/>
          <p:nvPr/>
        </p:nvSpPr>
        <p:spPr>
          <a:xfrm>
            <a:off x="6413500" y="40767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086A70"/>
                </a:solidFill>
                <a:latin typeface="Calibri" pitchFamily="34" charset="0"/>
                <a:ea typeface="Calibri" pitchFamily="34" charset="-122"/>
                <a:cs typeface="Calibri" pitchFamily="34" charset="-120"/>
              </a:rPr>
              <a:t>#define ou const int ?</a:t>
            </a:r>
            <a:endParaRPr lang="en-US" sz="1600" dirty="0"/>
          </a:p>
        </p:txBody>
      </p:sp>
      <p:sp>
        <p:nvSpPr>
          <p:cNvPr id="16" name="Text 14"/>
          <p:cNvSpPr txBox="1"/>
          <p:nvPr/>
        </p:nvSpPr>
        <p:spPr>
          <a:xfrm>
            <a:off x="6413500" y="4432300"/>
            <a:ext cx="4737100" cy="10795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Carnet :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#define led 5</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Code :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const int led = 13</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Les deux donnent un nom à une broche ; </a:t>
            </a:r>
            <a:pPr algn="l" indent="0" marL="0">
              <a:lnSpc>
                <a:spcPct val="125000"/>
              </a:lnSpc>
              <a:buNone/>
            </a:pPr>
            <a:r>
              <a:rPr lang="en-US" sz="1300" i="1" dirty="0">
                <a:solidFill>
                  <a:srgbClr val="3E4A52"/>
                </a:solidFill>
                <a:latin typeface="Calibri" pitchFamily="34" charset="0"/>
                <a:ea typeface="Calibri" pitchFamily="34" charset="-122"/>
                <a:cs typeface="Calibri" pitchFamily="34" charset="-120"/>
              </a:rPr>
              <a:t>const int</a:t>
            </a:r>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 est plus propre car il a un type.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8"/>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5E6A70"/>
                </a:solidFill>
                <a:latin typeface="Calibri" pitchFamily="34" charset="0"/>
                <a:ea typeface="Calibri" pitchFamily="34" charset="-122"/>
                <a:cs typeface="Calibri" pitchFamily="34" charset="-120"/>
              </a:rPr>
              <a:t>Mon carnet Arduino · Agashae  ·  26</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086A70"/>
                </a:solidFill>
                <a:latin typeface="Calibri" pitchFamily="34" charset="0"/>
                <a:ea typeface="Calibri" pitchFamily="34" charset="-122"/>
                <a:cs typeface="Calibri" pitchFamily="34" charset="-120"/>
              </a:rPr>
              <a:t>RÉCAP</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16252D"/>
                </a:solidFill>
                <a:latin typeface="Calibri" pitchFamily="34" charset="0"/>
                <a:ea typeface="Calibri" pitchFamily="34" charset="-122"/>
                <a:cs typeface="Calibri" pitchFamily="34" charset="-120"/>
              </a:rPr>
              <a:t>Mes sources</a:t>
            </a:r>
            <a:endParaRPr lang="en-US" sz="3200" dirty="0"/>
          </a:p>
        </p:txBody>
      </p:sp>
      <p:sp>
        <p:nvSpPr>
          <p:cNvPr id="5" name="Shape 3"/>
          <p:cNvSpPr/>
          <p:nvPr/>
        </p:nvSpPr>
        <p:spPr>
          <a:xfrm>
            <a:off x="812800" y="1854200"/>
            <a:ext cx="5194300" cy="1524000"/>
          </a:xfrm>
          <a:prstGeom prst="roundRect">
            <a:avLst>
              <a:gd name="adj" fmla="val 8333"/>
            </a:avLst>
          </a:prstGeom>
          <a:solidFill>
            <a:srgbClr val="FFFDF8"/>
          </a:solidFill>
          <a:ln w="9525">
            <a:solidFill>
              <a:srgbClr val="DDD5C4"/>
            </a:solidFill>
            <a:prstDash val="solid"/>
          </a:ln>
        </p:spPr>
      </p:sp>
      <p:sp>
        <p:nvSpPr>
          <p:cNvPr id="6" name="Text 4"/>
          <p:cNvSpPr txBox="1"/>
          <p:nvPr/>
        </p:nvSpPr>
        <p:spPr>
          <a:xfrm>
            <a:off x="1041400" y="20574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Bouton poussoir (projet 2)</a:t>
            </a:r>
            <a:endParaRPr lang="en-US" sz="1600" dirty="0"/>
          </a:p>
        </p:txBody>
      </p:sp>
      <p:sp>
        <p:nvSpPr>
          <p:cNvPr id="7" name="Text 5"/>
          <p:cNvSpPr txBox="1"/>
          <p:nvPr/>
        </p:nvSpPr>
        <p:spPr>
          <a:xfrm>
            <a:off x="1041400" y="2463800"/>
            <a:ext cx="4737100" cy="571500"/>
          </a:xfrm>
          <a:prstGeom prst="rect">
            <a:avLst/>
          </a:prstGeom>
          <a:noFill/>
          <a:ln/>
        </p:spPr>
        <p:txBody>
          <a:bodyPr wrap="square" lIns="0" tIns="0" rIns="0" bIns="0" rtlCol="0" anchor="t"/>
          <a:lstStyle/>
          <a:p>
            <a:pPr indent="0" marL="0">
              <a:buNone/>
            </a:pPr>
            <a:r>
              <a:rPr lang="en-US" sz="1300" u="sng" dirty="0">
                <a:solidFill>
                  <a:srgbClr val="086A7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moussasoft.com/bouton-poussoir-arduino</a:t>
            </a:r>
            <a:endParaRPr lang="en-US" sz="1300" dirty="0"/>
          </a:p>
        </p:txBody>
      </p:sp>
      <p:sp>
        <p:nvSpPr>
          <p:cNvPr id="8" name="Shape 6"/>
          <p:cNvSpPr/>
          <p:nvPr/>
        </p:nvSpPr>
        <p:spPr>
          <a:xfrm>
            <a:off x="6184900" y="1854200"/>
            <a:ext cx="5194300" cy="1524000"/>
          </a:xfrm>
          <a:prstGeom prst="roundRect">
            <a:avLst>
              <a:gd name="adj" fmla="val 8333"/>
            </a:avLst>
          </a:prstGeom>
          <a:solidFill>
            <a:srgbClr val="FFFDF8"/>
          </a:solidFill>
          <a:ln w="9525">
            <a:solidFill>
              <a:srgbClr val="DDD5C4"/>
            </a:solidFill>
            <a:prstDash val="solid"/>
          </a:ln>
        </p:spPr>
      </p:sp>
      <p:sp>
        <p:nvSpPr>
          <p:cNvPr id="9" name="Text 7"/>
          <p:cNvSpPr txBox="1"/>
          <p:nvPr/>
        </p:nvSpPr>
        <p:spPr>
          <a:xfrm>
            <a:off x="6413500" y="20574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Servomoteur (projet 3)</a:t>
            </a:r>
            <a:endParaRPr lang="en-US" sz="1600" dirty="0"/>
          </a:p>
        </p:txBody>
      </p:sp>
      <p:sp>
        <p:nvSpPr>
          <p:cNvPr id="10" name="Text 8"/>
          <p:cNvSpPr txBox="1"/>
          <p:nvPr/>
        </p:nvSpPr>
        <p:spPr>
          <a:xfrm>
            <a:off x="6413500" y="2463800"/>
            <a:ext cx="4737100" cy="571500"/>
          </a:xfrm>
          <a:prstGeom prst="rect">
            <a:avLst/>
          </a:prstGeom>
          <a:noFill/>
          <a:ln/>
        </p:spPr>
        <p:txBody>
          <a:bodyPr wrap="square" lIns="0" tIns="0" rIns="0" bIns="0" rtlCol="0" anchor="t"/>
          <a:lstStyle/>
          <a:p>
            <a:pPr indent="0" marL="0">
              <a:buNone/>
            </a:pPr>
            <a:r>
              <a:rPr lang="en-US" sz="1300" u="sng" dirty="0">
                <a:solidFill>
                  <a:srgbClr val="086A7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youtu.be/v6NsAZ_srsM (vidéo YouTube)</a:t>
            </a:r>
            <a:endParaRPr lang="en-US" sz="1300" dirty="0"/>
          </a:p>
        </p:txBody>
      </p:sp>
      <p:sp>
        <p:nvSpPr>
          <p:cNvPr id="11" name="Shape 9"/>
          <p:cNvSpPr/>
          <p:nvPr/>
        </p:nvSpPr>
        <p:spPr>
          <a:xfrm>
            <a:off x="812800" y="3568700"/>
            <a:ext cx="5194300" cy="1524000"/>
          </a:xfrm>
          <a:prstGeom prst="roundRect">
            <a:avLst>
              <a:gd name="adj" fmla="val 8333"/>
            </a:avLst>
          </a:prstGeom>
          <a:solidFill>
            <a:srgbClr val="FFFDF8"/>
          </a:solidFill>
          <a:ln w="9525">
            <a:solidFill>
              <a:srgbClr val="DDD5C4"/>
            </a:solidFill>
            <a:prstDash val="solid"/>
          </a:ln>
        </p:spPr>
      </p:sp>
      <p:sp>
        <p:nvSpPr>
          <p:cNvPr id="12" name="Text 10"/>
          <p:cNvSpPr txBox="1"/>
          <p:nvPr/>
        </p:nvSpPr>
        <p:spPr>
          <a:xfrm>
            <a:off x="1041400" y="37719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Écran OLED (projet 4)</a:t>
            </a:r>
            <a:endParaRPr lang="en-US" sz="1600" dirty="0"/>
          </a:p>
        </p:txBody>
      </p:sp>
      <p:sp>
        <p:nvSpPr>
          <p:cNvPr id="13" name="Text 11"/>
          <p:cNvSpPr txBox="1"/>
          <p:nvPr/>
        </p:nvSpPr>
        <p:spPr>
          <a:xfrm>
            <a:off x="1041400" y="4178300"/>
            <a:ext cx="4737100" cy="635000"/>
          </a:xfrm>
          <a:prstGeom prst="rect">
            <a:avLst/>
          </a:prstGeom>
          <a:noFill/>
          <a:ln/>
        </p:spPr>
        <p:txBody>
          <a:bodyPr wrap="square" lIns="0" tIns="0" rIns="0" bIns="0" rtlCol="0" anchor="t"/>
          <a:lstStyle/>
          <a:p>
            <a:pPr algn="l" indent="0" marL="0">
              <a:lnSpc>
                <a:spcPct val="120000"/>
              </a:lnSpc>
              <a:buNone/>
            </a:pPr>
            <a:r>
              <a:rPr lang="en-US" sz="1300" dirty="0">
                <a:solidFill>
                  <a:srgbClr val="3E4A52"/>
                </a:solidFill>
                <a:latin typeface="Calibri" pitchFamily="34" charset="0"/>
                <a:ea typeface="Calibri" pitchFamily="34" charset="-122"/>
                <a:cs typeface="Calibri" pitchFamily="34" charset="-120"/>
              </a:rPr>
              <a:t>Acheté sur AliExpress (lien dans MyFirstMonitor/LienEcran.txt). Pour le code : « Aide de l'IA pour la compréhension ».</a:t>
            </a:r>
            <a:endParaRPr lang="en-US" sz="1300" dirty="0"/>
          </a:p>
        </p:txBody>
      </p:sp>
      <p:sp>
        <p:nvSpPr>
          <p:cNvPr id="14" name="Shape 12"/>
          <p:cNvSpPr/>
          <p:nvPr/>
        </p:nvSpPr>
        <p:spPr>
          <a:xfrm>
            <a:off x="6184900" y="3568700"/>
            <a:ext cx="5194300" cy="1524000"/>
          </a:xfrm>
          <a:prstGeom prst="roundRect">
            <a:avLst>
              <a:gd name="adj" fmla="val 8333"/>
            </a:avLst>
          </a:prstGeom>
          <a:solidFill>
            <a:srgbClr val="FFFDF8"/>
          </a:solidFill>
          <a:ln w="9525">
            <a:solidFill>
              <a:srgbClr val="DDD5C4"/>
            </a:solidFill>
            <a:prstDash val="solid"/>
          </a:ln>
        </p:spPr>
      </p:sp>
      <p:sp>
        <p:nvSpPr>
          <p:cNvPr id="15" name="Text 13"/>
          <p:cNvSpPr txBox="1"/>
          <p:nvPr/>
        </p:nvSpPr>
        <p:spPr>
          <a:xfrm>
            <a:off x="6413500" y="3771900"/>
            <a:ext cx="4737100"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Tout mon projet</a:t>
            </a:r>
            <a:endParaRPr lang="en-US" sz="1600" dirty="0"/>
          </a:p>
        </p:txBody>
      </p:sp>
      <p:sp>
        <p:nvSpPr>
          <p:cNvPr id="16" name="Text 14"/>
          <p:cNvSpPr txBox="1"/>
          <p:nvPr/>
        </p:nvSpPr>
        <p:spPr>
          <a:xfrm>
            <a:off x="6413500" y="4178300"/>
            <a:ext cx="4737100" cy="571500"/>
          </a:xfrm>
          <a:prstGeom prst="rect">
            <a:avLst/>
          </a:prstGeom>
          <a:noFill/>
          <a:ln/>
        </p:spPr>
        <p:txBody>
          <a:bodyPr wrap="square" lIns="0" tIns="0" rIns="0" bIns="0" rtlCol="0" anchor="t"/>
          <a:lstStyle/>
          <a:p>
            <a:pPr indent="0" marL="0">
              <a:buNone/>
            </a:pPr>
            <a:r>
              <a:rPr lang="en-US" sz="1300" u="sng" dirty="0">
                <a:solidFill>
                  <a:srgbClr val="086A70"/>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github.com/Agashae/ArduinoProject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252D"/>
        </a:solidFill>
      </p:bgPr>
    </p:bg>
    <p:spTree>
      <p:nvGrpSpPr>
        <p:cNvPr id="1" name=""/>
        <p:cNvGrpSpPr/>
        <p:nvPr/>
      </p:nvGrpSpPr>
      <p:grpSpPr>
        <a:xfrm>
          <a:off x="0" y="0"/>
          <a:ext cx="0" cy="0"/>
          <a:chOff x="0" y="0"/>
          <a:chExt cx="0" cy="0"/>
        </a:xfrm>
      </p:grpSpPr>
      <p:sp>
        <p:nvSpPr>
          <p:cNvPr id="2" name="Text 0"/>
          <p:cNvSpPr txBox="1"/>
          <p:nvPr/>
        </p:nvSpPr>
        <p:spPr>
          <a:xfrm>
            <a:off x="812800" y="6235700"/>
            <a:ext cx="10566400" cy="215900"/>
          </a:xfrm>
          <a:prstGeom prst="rect">
            <a:avLst/>
          </a:prstGeom>
          <a:noFill/>
          <a:ln/>
        </p:spPr>
        <p:txBody>
          <a:bodyPr wrap="square" lIns="0" tIns="0" rIns="0" bIns="0" rtlCol="0" anchor="ctr"/>
          <a:lstStyle/>
          <a:p>
            <a:pPr indent="0" marL="0">
              <a:buNone/>
            </a:pPr>
            <a:r>
              <a:rPr lang="en-US" sz="1200" dirty="0">
                <a:solidFill>
                  <a:srgbClr val="93A6AB"/>
                </a:solidFill>
                <a:latin typeface="Calibri" pitchFamily="34" charset="0"/>
                <a:ea typeface="Calibri" pitchFamily="34" charset="-122"/>
                <a:cs typeface="Calibri" pitchFamily="34" charset="-120"/>
              </a:rPr>
              <a:t>Mon carnet Arduino · Agashae  ·  27</a:t>
            </a:r>
            <a:endParaRPr lang="en-US" sz="1200" dirty="0"/>
          </a:p>
        </p:txBody>
      </p:sp>
      <p:sp>
        <p:nvSpPr>
          <p:cNvPr id="3" name="Text 1"/>
          <p:cNvSpPr txBox="1"/>
          <p:nvPr/>
        </p:nvSpPr>
        <p:spPr>
          <a:xfrm>
            <a:off x="812800" y="812800"/>
            <a:ext cx="10566400" cy="215900"/>
          </a:xfrm>
          <a:prstGeom prst="rect">
            <a:avLst/>
          </a:prstGeom>
          <a:noFill/>
          <a:ln/>
        </p:spPr>
        <p:txBody>
          <a:bodyPr wrap="square" lIns="0" tIns="0" rIns="0" bIns="0" rtlCol="0" anchor="t"/>
          <a:lstStyle/>
          <a:p>
            <a:pPr algn="l" indent="0" marL="0">
              <a:lnSpc>
                <a:spcPct val="110000"/>
              </a:lnSpc>
              <a:buNone/>
            </a:pPr>
            <a:r>
              <a:rPr lang="en-US" sz="1200" b="1" spc="300" kern="0" dirty="0">
                <a:solidFill>
                  <a:srgbClr val="7FD3CF"/>
                </a:solidFill>
                <a:latin typeface="Calibri" pitchFamily="34" charset="0"/>
                <a:ea typeface="Calibri" pitchFamily="34" charset="-122"/>
                <a:cs typeface="Calibri" pitchFamily="34" charset="-120"/>
              </a:rPr>
              <a:t>ET APRÈS ?</a:t>
            </a:r>
            <a:endParaRPr lang="en-US" sz="1200" dirty="0"/>
          </a:p>
        </p:txBody>
      </p:sp>
      <p:sp>
        <p:nvSpPr>
          <p:cNvPr id="4" name="Text 2"/>
          <p:cNvSpPr txBox="1"/>
          <p:nvPr/>
        </p:nvSpPr>
        <p:spPr>
          <a:xfrm>
            <a:off x="812800" y="1092200"/>
            <a:ext cx="10566400" cy="508000"/>
          </a:xfrm>
          <a:prstGeom prst="rect">
            <a:avLst/>
          </a:prstGeom>
          <a:noFill/>
          <a:ln/>
        </p:spPr>
        <p:txBody>
          <a:bodyPr wrap="square" lIns="0" tIns="0" rIns="0" bIns="0" rtlCol="0" anchor="t"/>
          <a:lstStyle/>
          <a:p>
            <a:pPr algn="l" indent="0" marL="0">
              <a:lnSpc>
                <a:spcPct val="100000"/>
              </a:lnSpc>
              <a:buNone/>
            </a:pPr>
            <a:r>
              <a:rPr lang="en-US" sz="3200" b="1" dirty="0">
                <a:solidFill>
                  <a:srgbClr val="F5F1E8"/>
                </a:solidFill>
                <a:latin typeface="Calibri" pitchFamily="34" charset="0"/>
                <a:ea typeface="Calibri" pitchFamily="34" charset="-122"/>
                <a:cs typeface="Calibri" pitchFamily="34" charset="-120"/>
              </a:rPr>
              <a:t>Des idées pour la suite</a:t>
            </a:r>
            <a:endParaRPr lang="en-US" sz="3200" dirty="0"/>
          </a:p>
        </p:txBody>
      </p:sp>
      <p:sp>
        <p:nvSpPr>
          <p:cNvPr id="5" name="Text 3"/>
          <p:cNvSpPr txBox="1"/>
          <p:nvPr/>
        </p:nvSpPr>
        <p:spPr>
          <a:xfrm>
            <a:off x="812800" y="1714500"/>
            <a:ext cx="10566400" cy="317500"/>
          </a:xfrm>
          <a:prstGeom prst="rect">
            <a:avLst/>
          </a:prstGeom>
          <a:noFill/>
          <a:ln/>
        </p:spPr>
        <p:txBody>
          <a:bodyPr wrap="square" lIns="0" tIns="0" rIns="0" bIns="0" rtlCol="0" anchor="t"/>
          <a:lstStyle/>
          <a:p>
            <a:pPr algn="l" indent="0" marL="0">
              <a:lnSpc>
                <a:spcPct val="110000"/>
              </a:lnSpc>
              <a:buNone/>
            </a:pPr>
            <a:r>
              <a:rPr lang="en-US" sz="1600" dirty="0">
                <a:solidFill>
                  <a:srgbClr val="C9D6D8"/>
                </a:solidFill>
                <a:latin typeface="Calibri" pitchFamily="34" charset="0"/>
                <a:ea typeface="Calibri" pitchFamily="34" charset="-122"/>
                <a:cs typeface="Calibri" pitchFamily="34" charset="-120"/>
              </a:rPr>
              <a:t>En mélangeant ce que je sais déjà faire.</a:t>
            </a:r>
            <a:endParaRPr lang="en-US" sz="1600" dirty="0"/>
          </a:p>
        </p:txBody>
      </p:sp>
      <p:sp>
        <p:nvSpPr>
          <p:cNvPr id="6" name="Shape 4"/>
          <p:cNvSpPr/>
          <p:nvPr/>
        </p:nvSpPr>
        <p:spPr>
          <a:xfrm>
            <a:off x="812800" y="2413000"/>
            <a:ext cx="3386667" cy="1524000"/>
          </a:xfrm>
          <a:prstGeom prst="roundRect">
            <a:avLst>
              <a:gd name="adj" fmla="val 8333"/>
            </a:avLst>
          </a:prstGeom>
          <a:solidFill>
            <a:srgbClr val="FFFDF8"/>
          </a:solidFill>
          <a:ln w="9525">
            <a:solidFill>
              <a:srgbClr val="DDD5C4"/>
            </a:solidFill>
            <a:prstDash val="solid"/>
          </a:ln>
        </p:spPr>
      </p:sp>
      <p:sp>
        <p:nvSpPr>
          <p:cNvPr id="7" name="Text 5"/>
          <p:cNvSpPr txBox="1"/>
          <p:nvPr/>
        </p:nvSpPr>
        <p:spPr>
          <a:xfrm>
            <a:off x="1041400" y="26162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Bouton + servo</a:t>
            </a:r>
            <a:endParaRPr lang="en-US" sz="1600" dirty="0"/>
          </a:p>
        </p:txBody>
      </p:sp>
      <p:sp>
        <p:nvSpPr>
          <p:cNvPr id="8" name="Text 6"/>
          <p:cNvSpPr txBox="1"/>
          <p:nvPr/>
        </p:nvSpPr>
        <p:spPr>
          <a:xfrm>
            <a:off x="1041400" y="2971800"/>
            <a:ext cx="2929467" cy="762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Appuyer sur le bouton fait tourner le servo à 90°.</a:t>
            </a:r>
            <a:endParaRPr lang="en-US" sz="1300" dirty="0"/>
          </a:p>
        </p:txBody>
      </p:sp>
      <p:sp>
        <p:nvSpPr>
          <p:cNvPr id="9" name="Shape 7"/>
          <p:cNvSpPr/>
          <p:nvPr/>
        </p:nvSpPr>
        <p:spPr>
          <a:xfrm>
            <a:off x="4402667" y="2413000"/>
            <a:ext cx="3386667" cy="1524000"/>
          </a:xfrm>
          <a:prstGeom prst="roundRect">
            <a:avLst>
              <a:gd name="adj" fmla="val 8333"/>
            </a:avLst>
          </a:prstGeom>
          <a:solidFill>
            <a:srgbClr val="FFFDF8"/>
          </a:solidFill>
          <a:ln w="9525">
            <a:solidFill>
              <a:srgbClr val="DDD5C4"/>
            </a:solidFill>
            <a:prstDash val="solid"/>
          </a:ln>
        </p:spPr>
      </p:sp>
      <p:sp>
        <p:nvSpPr>
          <p:cNvPr id="10" name="Text 8"/>
          <p:cNvSpPr txBox="1"/>
          <p:nvPr/>
        </p:nvSpPr>
        <p:spPr>
          <a:xfrm>
            <a:off x="4631267" y="26162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Servo + écran</a:t>
            </a:r>
            <a:endParaRPr lang="en-US" sz="1600" dirty="0"/>
          </a:p>
        </p:txBody>
      </p:sp>
      <p:sp>
        <p:nvSpPr>
          <p:cNvPr id="11" name="Text 9"/>
          <p:cNvSpPr txBox="1"/>
          <p:nvPr/>
        </p:nvSpPr>
        <p:spPr>
          <a:xfrm>
            <a:off x="4631267" y="2971800"/>
            <a:ext cx="2929467" cy="762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Afficher l'angle du servo en direct sur l'écran OLED.</a:t>
            </a:r>
            <a:endParaRPr lang="en-US" sz="1300" dirty="0"/>
          </a:p>
        </p:txBody>
      </p:sp>
      <p:sp>
        <p:nvSpPr>
          <p:cNvPr id="12" name="Shape 10"/>
          <p:cNvSpPr/>
          <p:nvPr/>
        </p:nvSpPr>
        <p:spPr>
          <a:xfrm>
            <a:off x="7992533" y="2413000"/>
            <a:ext cx="3386667" cy="1524000"/>
          </a:xfrm>
          <a:prstGeom prst="roundRect">
            <a:avLst>
              <a:gd name="adj" fmla="val 8333"/>
            </a:avLst>
          </a:prstGeom>
          <a:solidFill>
            <a:srgbClr val="FFFDF8"/>
          </a:solidFill>
          <a:ln w="9525">
            <a:solidFill>
              <a:srgbClr val="DDD5C4"/>
            </a:solidFill>
            <a:prstDash val="solid"/>
          </a:ln>
        </p:spPr>
      </p:sp>
      <p:sp>
        <p:nvSpPr>
          <p:cNvPr id="13" name="Text 11"/>
          <p:cNvSpPr txBox="1"/>
          <p:nvPr/>
        </p:nvSpPr>
        <p:spPr>
          <a:xfrm>
            <a:off x="8221133" y="2616200"/>
            <a:ext cx="2929467" cy="279400"/>
          </a:xfrm>
          <a:prstGeom prst="rect">
            <a:avLst/>
          </a:prstGeom>
          <a:noFill/>
          <a:ln/>
        </p:spPr>
        <p:txBody>
          <a:bodyPr wrap="square" lIns="0" tIns="0" rIns="0" bIns="0" rtlCol="0" anchor="t"/>
          <a:lstStyle/>
          <a:p>
            <a:pPr algn="l" indent="0" marL="0">
              <a:lnSpc>
                <a:spcPct val="110000"/>
              </a:lnSpc>
              <a:buNone/>
            </a:pPr>
            <a:r>
              <a:rPr lang="en-US" sz="1600" b="1" dirty="0">
                <a:solidFill>
                  <a:srgbClr val="16252D"/>
                </a:solidFill>
                <a:latin typeface="Calibri" pitchFamily="34" charset="0"/>
                <a:ea typeface="Calibri" pitchFamily="34" charset="-122"/>
                <a:cs typeface="Calibri" pitchFamily="34" charset="-120"/>
              </a:rPr>
              <a:t>Joystick</a:t>
            </a:r>
            <a:endParaRPr lang="en-US" sz="1600" dirty="0"/>
          </a:p>
        </p:txBody>
      </p:sp>
      <p:sp>
        <p:nvSpPr>
          <p:cNvPr id="14" name="Text 12"/>
          <p:cNvSpPr txBox="1"/>
          <p:nvPr/>
        </p:nvSpPr>
        <p:spPr>
          <a:xfrm>
            <a:off x="8221133" y="2971800"/>
            <a:ext cx="2929467" cy="762000"/>
          </a:xfrm>
          <a:prstGeom prst="rect">
            <a:avLst/>
          </a:prstGeom>
          <a:noFill/>
          <a:ln/>
        </p:spPr>
        <p:txBody>
          <a:bodyPr wrap="square" lIns="0" tIns="0" rIns="0" bIns="0" rtlCol="0" anchor="t"/>
          <a:lstStyle/>
          <a:p>
            <a:pPr algn="l" indent="0" marL="0">
              <a:lnSpc>
                <a:spcPct val="125000"/>
              </a:lnSpc>
              <a:buNone/>
            </a:pPr>
            <a:r>
              <a:rPr lang="en-US" sz="1300" dirty="0">
                <a:solidFill>
                  <a:srgbClr val="3E4A52"/>
                </a:solidFill>
                <a:latin typeface="Calibri" pitchFamily="34" charset="0"/>
                <a:ea typeface="Calibri" pitchFamily="34" charset="-122"/>
                <a:cs typeface="Calibri" pitchFamily="34" charset="-120"/>
              </a:rPr>
              <a:t>Lire un joystick sur A0 (0 à 1023) pour piloter le servo : l'analogique de mon carnet !</a:t>
            </a:r>
            <a:endParaRPr lang="en-US" sz="1300" dirty="0"/>
          </a:p>
        </p:txBody>
      </p:sp>
      <p:sp>
        <p:nvSpPr>
          <p:cNvPr id="15" name="Text 13"/>
          <p:cNvSpPr txBox="1"/>
          <p:nvPr/>
        </p:nvSpPr>
        <p:spPr>
          <a:xfrm>
            <a:off x="812800" y="4953000"/>
            <a:ext cx="10566400" cy="571500"/>
          </a:xfrm>
          <a:prstGeom prst="rect">
            <a:avLst/>
          </a:prstGeom>
          <a:noFill/>
          <a:ln/>
        </p:spPr>
        <p:txBody>
          <a:bodyPr wrap="square" lIns="0" tIns="0" rIns="0" bIns="0" rtlCol="0" anchor="t"/>
          <a:lstStyle/>
          <a:p>
            <a:pPr algn="l" indent="0" marL="0">
              <a:lnSpc>
                <a:spcPct val="105000"/>
              </a:lnSpc>
              <a:buNone/>
            </a:pPr>
            <a:r>
              <a:rPr lang="en-US" sz="2624" i="1" dirty="0">
                <a:solidFill>
                  <a:srgbClr val="F2A765"/>
                </a:solidFill>
                <a:latin typeface="Calibri" pitchFamily="34" charset="0"/>
                <a:ea typeface="Calibri" pitchFamily="34" charset="-122"/>
                <a:cs typeface="Calibri" pitchFamily="34" charset="-120"/>
              </a:rPr>
              <a:t>« voir GitHub pour la suite :) »</a:t>
            </a:r>
            <a:endParaRPr lang="en-US" sz="262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 carnet Arduino</dc:title>
  <dc:subject>PptxGenJS Presentation</dc:subject>
  <dc:creator>Agashae</dc:creator>
  <cp:lastModifiedBy>Agashae</cp:lastModifiedBy>
  <cp:revision>1</cp:revision>
  <dcterms:created xsi:type="dcterms:W3CDTF">2026-09-30T13:26:08Z</dcterms:created>
  <dcterms:modified xsi:type="dcterms:W3CDTF">2026-09-30T13:26:08Z</dcterms:modified>
</cp:coreProperties>
</file>